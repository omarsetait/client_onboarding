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8"/>
  </p:notesMasterIdLst>
  <p:sldIdLst>
    <p:sldId id="268" r:id="rId5"/>
    <p:sldId id="2147377595" r:id="rId6"/>
    <p:sldId id="2147377478" r:id="rId7"/>
    <p:sldId id="1320" r:id="rId8"/>
    <p:sldId id="2147377592" r:id="rId9"/>
    <p:sldId id="2147377588" r:id="rId10"/>
    <p:sldId id="2147377589" r:id="rId11"/>
    <p:sldId id="2147377591" r:id="rId12"/>
    <p:sldId id="2147377587" r:id="rId13"/>
    <p:sldId id="2147377488" r:id="rId14"/>
    <p:sldId id="2147377594" r:id="rId15"/>
    <p:sldId id="2147377596" r:id="rId16"/>
    <p:sldId id="27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0BF2E32-02FE-9E1A-482A-71EE494AF510}" name="Jamal Alnaser" initials="JA" userId="Jamal Alnaser" providerId="None"/>
  <p188:author id="{005E7BFD-7E97-EF70-A48B-69D83435682A}" name="Fatima Adlan" initials="FA" userId="S::FAdlan@tachyhealth.com::c30758f2-8996-4b40-a555-ed4ee673ab40"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A4094"/>
    <a:srgbClr val="37A8ED"/>
    <a:srgbClr val="B83389"/>
    <a:srgbClr val="EEEEEE"/>
    <a:srgbClr val="1DAAE2"/>
    <a:srgbClr val="B73189"/>
    <a:srgbClr val="A02B93"/>
    <a:srgbClr val="6E2984"/>
    <a:srgbClr val="5D2983"/>
    <a:srgbClr val="37B9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FBF2A11-E5D9-FD05-BB7F-87073E0EFA84}" v="3" dt="2025-12-23T13:22:02.04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rouk Eissa" userId="S::seissa@tachyhealth.com::b9ac6c08-47c8-449f-82e4-bfc0fadbba7a" providerId="AD" clId="Web-{BFBF2A11-E5D9-FD05-BB7F-87073E0EFA84}"/>
    <pc:docChg chg="modSld">
      <pc:chgData name="Shrouk Eissa" userId="S::seissa@tachyhealth.com::b9ac6c08-47c8-449f-82e4-bfc0fadbba7a" providerId="AD" clId="Web-{BFBF2A11-E5D9-FD05-BB7F-87073E0EFA84}" dt="2025-12-23T13:22:02.048" v="2" actId="20577"/>
      <pc:docMkLst>
        <pc:docMk/>
      </pc:docMkLst>
      <pc:sldChg chg="modSp">
        <pc:chgData name="Shrouk Eissa" userId="S::seissa@tachyhealth.com::b9ac6c08-47c8-449f-82e4-bfc0fadbba7a" providerId="AD" clId="Web-{BFBF2A11-E5D9-FD05-BB7F-87073E0EFA84}" dt="2025-12-23T13:22:02.048" v="2" actId="20577"/>
        <pc:sldMkLst>
          <pc:docMk/>
          <pc:sldMk cId="3176333403" sldId="2147377591"/>
        </pc:sldMkLst>
        <pc:spChg chg="mod">
          <ac:chgData name="Shrouk Eissa" userId="S::seissa@tachyhealth.com::b9ac6c08-47c8-449f-82e4-bfc0fadbba7a" providerId="AD" clId="Web-{BFBF2A11-E5D9-FD05-BB7F-87073E0EFA84}" dt="2025-12-23T13:22:02.048" v="2" actId="20577"/>
          <ac:spMkLst>
            <pc:docMk/>
            <pc:sldMk cId="3176333403" sldId="2147377591"/>
            <ac:spMk id="5" creationId="{825CFDA8-FA7E-09BB-778B-2BA1F9000576}"/>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C81DB9-27FE-42BE-BB31-420F91F5C805}" type="datetimeFigureOut">
              <a:t>12/23/2025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45C140-1774-4A73-A5E2-E170A4975213}" type="slidenum">
              <a:t>‹#›</a:t>
            </a:fld>
            <a:endParaRPr lang="en-US"/>
          </a:p>
        </p:txBody>
      </p:sp>
    </p:spTree>
    <p:extLst>
      <p:ext uri="{BB962C8B-B14F-4D97-AF65-F5344CB8AC3E}">
        <p14:creationId xmlns:p14="http://schemas.microsoft.com/office/powerpoint/2010/main" val="42363157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References for the system </a:t>
            </a:r>
          </a:p>
        </p:txBody>
      </p:sp>
      <p:sp>
        <p:nvSpPr>
          <p:cNvPr id="4" name="Slide Number Placeholder 3"/>
          <p:cNvSpPr>
            <a:spLocks noGrp="1"/>
          </p:cNvSpPr>
          <p:nvPr>
            <p:ph type="sldNum" sz="quarter" idx="5"/>
          </p:nvPr>
        </p:nvSpPr>
        <p:spPr/>
        <p:txBody>
          <a:bodyPr/>
          <a:lstStyle/>
          <a:p>
            <a:fld id="{CA30CDF8-48FC-614D-97B7-9FA1F21B11C4}" type="slidenum">
              <a:rPr lang="x-none" smtClean="0"/>
              <a:t>3</a:t>
            </a:fld>
            <a:endParaRPr lang="x-none"/>
          </a:p>
        </p:txBody>
      </p:sp>
    </p:spTree>
    <p:extLst>
      <p:ext uri="{BB962C8B-B14F-4D97-AF65-F5344CB8AC3E}">
        <p14:creationId xmlns:p14="http://schemas.microsoft.com/office/powerpoint/2010/main" val="14332640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EC0D3-64DA-8EB3-4304-7E15AE8C64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FAB6668-E454-5993-D63D-56D78CBFFA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17B3E6-AC67-0DAE-BFF8-2E74548AC77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4BF4A7F-B638-5102-97C5-D00A21B24844}"/>
              </a:ext>
            </a:extLst>
          </p:cNvPr>
          <p:cNvSpPr>
            <a:spLocks noGrp="1"/>
          </p:cNvSpPr>
          <p:nvPr>
            <p:ph type="sldNum" sz="quarter" idx="5"/>
          </p:nvPr>
        </p:nvSpPr>
        <p:spPr/>
        <p:txBody>
          <a:bodyPr/>
          <a:lstStyle/>
          <a:p>
            <a:fld id="{7B45C140-1774-4A73-A5E2-E170A4975213}" type="slidenum">
              <a:rPr lang="en-US" smtClean="0"/>
              <a:t>5</a:t>
            </a:fld>
            <a:endParaRPr lang="en-US"/>
          </a:p>
        </p:txBody>
      </p:sp>
    </p:spTree>
    <p:extLst>
      <p:ext uri="{BB962C8B-B14F-4D97-AF65-F5344CB8AC3E}">
        <p14:creationId xmlns:p14="http://schemas.microsoft.com/office/powerpoint/2010/main" val="21666955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5C140-1774-4A73-A5E2-E170A4975213}" type="slidenum">
              <a:rPr lang="en-US" smtClean="0"/>
              <a:t>7</a:t>
            </a:fld>
            <a:endParaRPr lang="en-US"/>
          </a:p>
        </p:txBody>
      </p:sp>
    </p:spTree>
    <p:extLst>
      <p:ext uri="{BB962C8B-B14F-4D97-AF65-F5344CB8AC3E}">
        <p14:creationId xmlns:p14="http://schemas.microsoft.com/office/powerpoint/2010/main" val="28623088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F4664D-57D2-E86C-B7AD-3E99F4212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CAD5BA-BB47-9E01-C418-55E16F1957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5E79FB1-A6A2-A326-8D76-4B09F093DC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B27A3B7-ECE8-DC8B-84C1-084667B5ADE9}"/>
              </a:ext>
            </a:extLst>
          </p:cNvPr>
          <p:cNvSpPr>
            <a:spLocks noGrp="1"/>
          </p:cNvSpPr>
          <p:nvPr>
            <p:ph type="sldNum" sz="quarter" idx="5"/>
          </p:nvPr>
        </p:nvSpPr>
        <p:spPr/>
        <p:txBody>
          <a:bodyPr/>
          <a:lstStyle/>
          <a:p>
            <a:fld id="{7B45C140-1774-4A73-A5E2-E170A4975213}" type="slidenum">
              <a:rPr lang="en-US" smtClean="0"/>
              <a:t>8</a:t>
            </a:fld>
            <a:endParaRPr lang="en-US"/>
          </a:p>
        </p:txBody>
      </p:sp>
    </p:spTree>
    <p:extLst>
      <p:ext uri="{BB962C8B-B14F-4D97-AF65-F5344CB8AC3E}">
        <p14:creationId xmlns:p14="http://schemas.microsoft.com/office/powerpoint/2010/main" val="41867219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A30CDF8-48FC-614D-97B7-9FA1F21B11C4}" type="slidenum">
              <a:rPr lang="x-none" smtClean="0"/>
              <a:t>9</a:t>
            </a:fld>
            <a:endParaRPr lang="x-none"/>
          </a:p>
        </p:txBody>
      </p:sp>
    </p:spTree>
    <p:extLst>
      <p:ext uri="{BB962C8B-B14F-4D97-AF65-F5344CB8AC3E}">
        <p14:creationId xmlns:p14="http://schemas.microsoft.com/office/powerpoint/2010/main" val="5899297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45C140-1774-4A73-A5E2-E170A4975213}" type="slidenum">
              <a:rPr lang="en-US" smtClean="0"/>
              <a:t>10</a:t>
            </a:fld>
            <a:endParaRPr lang="en-US"/>
          </a:p>
        </p:txBody>
      </p:sp>
    </p:spTree>
    <p:extLst>
      <p:ext uri="{BB962C8B-B14F-4D97-AF65-F5344CB8AC3E}">
        <p14:creationId xmlns:p14="http://schemas.microsoft.com/office/powerpoint/2010/main" val="37860468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12/23/2025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12/23/2025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12/23/2025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12/23/2025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12/23/2025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011519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4_Full Image">
    <p:spTree>
      <p:nvGrpSpPr>
        <p:cNvPr id="1" name=""/>
        <p:cNvGrpSpPr/>
        <p:nvPr/>
      </p:nvGrpSpPr>
      <p:grpSpPr>
        <a:xfrm>
          <a:off x="0" y="0"/>
          <a:ext cx="0" cy="0"/>
          <a:chOff x="0" y="0"/>
          <a:chExt cx="0" cy="0"/>
        </a:xfrm>
      </p:grpSpPr>
    </p:spTree>
    <p:extLst>
      <p:ext uri="{BB962C8B-B14F-4D97-AF65-F5344CB8AC3E}">
        <p14:creationId xmlns:p14="http://schemas.microsoft.com/office/powerpoint/2010/main" val="3090146709"/>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60_Full Imag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1F5C928-E195-6D09-125D-46FD96ED7F69}"/>
              </a:ext>
            </a:extLst>
          </p:cNvPr>
          <p:cNvSpPr>
            <a:spLocks noGrp="1"/>
          </p:cNvSpPr>
          <p:nvPr>
            <p:ph type="pic" sz="quarter" idx="10"/>
          </p:nvPr>
        </p:nvSpPr>
        <p:spPr>
          <a:xfrm>
            <a:off x="8536498" y="2070276"/>
            <a:ext cx="3655502" cy="4787724"/>
          </a:xfrm>
          <a:custGeom>
            <a:avLst/>
            <a:gdLst>
              <a:gd name="connsiteX0" fmla="*/ 0 w 5732317"/>
              <a:gd name="connsiteY0" fmla="*/ 0 h 5667768"/>
              <a:gd name="connsiteX1" fmla="*/ 5732317 w 5732317"/>
              <a:gd name="connsiteY1" fmla="*/ 0 h 5667768"/>
              <a:gd name="connsiteX2" fmla="*/ 5732317 w 5732317"/>
              <a:gd name="connsiteY2" fmla="*/ 5667768 h 5667768"/>
              <a:gd name="connsiteX3" fmla="*/ 0 w 5732317"/>
              <a:gd name="connsiteY3" fmla="*/ 5667768 h 5667768"/>
            </a:gdLst>
            <a:ahLst/>
            <a:cxnLst>
              <a:cxn ang="0">
                <a:pos x="connsiteX0" y="connsiteY0"/>
              </a:cxn>
              <a:cxn ang="0">
                <a:pos x="connsiteX1" y="connsiteY1"/>
              </a:cxn>
              <a:cxn ang="0">
                <a:pos x="connsiteX2" y="connsiteY2"/>
              </a:cxn>
              <a:cxn ang="0">
                <a:pos x="connsiteX3" y="connsiteY3"/>
              </a:cxn>
            </a:cxnLst>
            <a:rect l="l" t="t" r="r" b="b"/>
            <a:pathLst>
              <a:path w="5732317" h="5667768">
                <a:moveTo>
                  <a:pt x="0" y="0"/>
                </a:moveTo>
                <a:lnTo>
                  <a:pt x="5732317" y="0"/>
                </a:lnTo>
                <a:lnTo>
                  <a:pt x="5732317" y="5667768"/>
                </a:lnTo>
                <a:lnTo>
                  <a:pt x="0" y="5667768"/>
                </a:lnTo>
                <a:close/>
              </a:path>
            </a:pathLst>
          </a:custGeom>
        </p:spPr>
        <p:txBody>
          <a:bodyPr wrap="square" anchor="ctr">
            <a:noAutofit/>
          </a:bodyPr>
          <a:lstStyle/>
          <a:p>
            <a:endParaRPr lang="en-US"/>
          </a:p>
        </p:txBody>
      </p:sp>
    </p:spTree>
    <p:extLst>
      <p:ext uri="{BB962C8B-B14F-4D97-AF65-F5344CB8AC3E}">
        <p14:creationId xmlns:p14="http://schemas.microsoft.com/office/powerpoint/2010/main" val="341107608"/>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12/23/2025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pic>
        <p:nvPicPr>
          <p:cNvPr id="8" name="Picture 7">
            <a:extLst>
              <a:ext uri="{FF2B5EF4-FFF2-40B4-BE49-F238E27FC236}">
                <a16:creationId xmlns:a16="http://schemas.microsoft.com/office/drawing/2014/main" id="{1E8C63A7-7C38-0F2F-7DB6-8F44181C46C4}"/>
              </a:ext>
            </a:extLst>
          </p:cNvPr>
          <p:cNvPicPr>
            <a:picLocks noChangeAspect="1"/>
          </p:cNvPicPr>
          <p:nvPr userDrawn="1"/>
        </p:nvPicPr>
        <p:blipFill>
          <a:blip r:embed="rId16"/>
          <a:stretch>
            <a:fillRect/>
          </a:stretch>
        </p:blipFill>
        <p:spPr>
          <a:xfrm>
            <a:off x="0" y="0"/>
            <a:ext cx="12192000" cy="6858000"/>
          </a:xfrm>
          <a:prstGeom prst="rect">
            <a:avLst/>
          </a:prstGeom>
        </p:spPr>
      </p:pic>
      <p:pic>
        <p:nvPicPr>
          <p:cNvPr id="9" name="Picture 8" descr="A heart with dots and lines in it&#10;&#10;Description automatically generated">
            <a:extLst>
              <a:ext uri="{FF2B5EF4-FFF2-40B4-BE49-F238E27FC236}">
                <a16:creationId xmlns:a16="http://schemas.microsoft.com/office/drawing/2014/main" id="{050E1CB6-D86F-9B51-2438-C143F3CF2D05}"/>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11396189" y="72982"/>
            <a:ext cx="753422" cy="584286"/>
          </a:xfrm>
          <a:prstGeom prst="rect">
            <a:avLst/>
          </a:prstGeom>
        </p:spPr>
      </p:pic>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png"/><Relationship Id="rId7" Type="http://schemas.openxmlformats.org/officeDocument/2006/relationships/image" Target="../media/image6.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 Id="rId9"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svg"/><Relationship Id="rId12" Type="http://schemas.microsoft.com/office/2007/relationships/hdphoto" Target="../media/hdphoto1.wdp"/><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11" Type="http://schemas.openxmlformats.org/officeDocument/2006/relationships/image" Target="../media/image7.pn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4.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14.xml"/><Relationship Id="rId5" Type="http://schemas.openxmlformats.org/officeDocument/2006/relationships/image" Target="../media/image20.svg"/><Relationship Id="rId4" Type="http://schemas.openxmlformats.org/officeDocument/2006/relationships/image" Target="../media/image19.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8" Type="http://schemas.openxmlformats.org/officeDocument/2006/relationships/image" Target="../media/image27.svg"/><Relationship Id="rId3" Type="http://schemas.openxmlformats.org/officeDocument/2006/relationships/image" Target="../media/image25.svg"/><Relationship Id="rId7" Type="http://schemas.openxmlformats.org/officeDocument/2006/relationships/image" Target="../media/image26.png"/><Relationship Id="rId12" Type="http://schemas.openxmlformats.org/officeDocument/2006/relationships/image" Target="../media/image6.svg"/><Relationship Id="rId2" Type="http://schemas.openxmlformats.org/officeDocument/2006/relationships/image" Target="../media/image24.png"/><Relationship Id="rId1" Type="http://schemas.openxmlformats.org/officeDocument/2006/relationships/slideLayout" Target="../slideLayouts/slideLayout12.xml"/><Relationship Id="rId6" Type="http://schemas.openxmlformats.org/officeDocument/2006/relationships/image" Target="../media/image4.svg"/><Relationship Id="rId11" Type="http://schemas.openxmlformats.org/officeDocument/2006/relationships/image" Target="../media/image5.png"/><Relationship Id="rId5" Type="http://schemas.openxmlformats.org/officeDocument/2006/relationships/image" Target="../media/image3.png"/><Relationship Id="rId10" Type="http://schemas.openxmlformats.org/officeDocument/2006/relationships/image" Target="../media/image29.svg"/><Relationship Id="rId4" Type="http://schemas.openxmlformats.org/officeDocument/2006/relationships/image" Target="../media/image1.png"/><Relationship Id="rId9"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63B32B31-9C7C-8B74-37F6-11D82338DCEB}"/>
              </a:ext>
            </a:extLst>
          </p:cNvPr>
          <p:cNvPicPr>
            <a:picLocks noChangeAspect="1"/>
          </p:cNvPicPr>
          <p:nvPr/>
        </p:nvPicPr>
        <p:blipFill>
          <a:blip r:embed="rId3"/>
          <a:stretch>
            <a:fillRect/>
          </a:stretch>
        </p:blipFill>
        <p:spPr>
          <a:xfrm>
            <a:off x="0" y="0"/>
            <a:ext cx="12191999" cy="6858000"/>
          </a:xfrm>
          <a:prstGeom prst="rect">
            <a:avLst/>
          </a:prstGeom>
        </p:spPr>
      </p:pic>
      <p:sp>
        <p:nvSpPr>
          <p:cNvPr id="8" name="AI Solutions for Value Based Healthcare"/>
          <p:cNvSpPr/>
          <p:nvPr/>
        </p:nvSpPr>
        <p:spPr>
          <a:xfrm>
            <a:off x="450917" y="1413832"/>
            <a:ext cx="8919226" cy="1746283"/>
          </a:xfrm>
          <a:prstGeom prst="rect">
            <a:avLst/>
          </a:prstGeom>
          <a:noFill/>
          <a:ln/>
        </p:spPr>
        <p:txBody>
          <a:bodyPr wrap="square" lIns="0" tIns="0" rIns="0" bIns="0" rtlCol="0" anchor="t"/>
          <a:lstStyle/>
          <a:p>
            <a:pPr>
              <a:lnSpc>
                <a:spcPts val="7500"/>
              </a:lnSpc>
            </a:pPr>
            <a:endParaRPr lang="en-US" sz="4800" b="1" dirty="0">
              <a:solidFill>
                <a:schemeClr val="bg1"/>
              </a:solidFill>
              <a:latin typeface="Poppins" panose="00000500000000000000" pitchFamily="2" charset="0"/>
              <a:ea typeface="Poppins SemiBold" pitchFamily="34" charset="-122"/>
              <a:cs typeface="Poppins" panose="00000500000000000000" pitchFamily="2" charset="0"/>
            </a:endParaRPr>
          </a:p>
          <a:p>
            <a:pPr>
              <a:lnSpc>
                <a:spcPts val="7500"/>
              </a:lnSpc>
            </a:pPr>
            <a:r>
              <a:rPr lang="en-US" sz="4800" b="1" dirty="0">
                <a:solidFill>
                  <a:schemeClr val="bg1"/>
                </a:solidFill>
                <a:latin typeface="Poppins" panose="00000500000000000000" pitchFamily="2" charset="0"/>
                <a:cs typeface="Poppins" panose="00000500000000000000" pitchFamily="2" charset="0"/>
              </a:rPr>
              <a:t>Intelligent Pharmacy Benefit Management</a:t>
            </a:r>
            <a:endParaRPr lang="en-US" sz="4800" b="1" dirty="0">
              <a:solidFill>
                <a:schemeClr val="bg1"/>
              </a:solidFill>
              <a:latin typeface="Poppins" panose="00000500000000000000" pitchFamily="2" charset="0"/>
              <a:ea typeface="Poppins SemiBold" pitchFamily="34" charset="-122"/>
              <a:cs typeface="Poppins" panose="00000500000000000000" pitchFamily="2" charset="0"/>
            </a:endParaRPr>
          </a:p>
        </p:txBody>
      </p:sp>
      <p:sp>
        <p:nvSpPr>
          <p:cNvPr id="9" name="Riyadh - Dubai - Delaware"/>
          <p:cNvSpPr/>
          <p:nvPr/>
        </p:nvSpPr>
        <p:spPr>
          <a:xfrm>
            <a:off x="9242617" y="6350140"/>
            <a:ext cx="2498467" cy="215877"/>
          </a:xfrm>
          <a:prstGeom prst="rect">
            <a:avLst/>
          </a:prstGeom>
          <a:noFill/>
          <a:ln/>
        </p:spPr>
        <p:txBody>
          <a:bodyPr wrap="square" lIns="0" tIns="0" rIns="0" bIns="0" rtlCol="0" anchor="t"/>
          <a:lstStyle/>
          <a:p>
            <a:pPr algn="r">
              <a:lnSpc>
                <a:spcPts val="2112"/>
              </a:lnSpc>
            </a:pPr>
            <a:r>
              <a:rPr lang="en-US" sz="1100">
                <a:solidFill>
                  <a:srgbClr val="FFFFFF"/>
                </a:solidFill>
                <a:latin typeface="Poppins Regular" pitchFamily="34" charset="0"/>
                <a:ea typeface="Poppins Regular" pitchFamily="34" charset="-122"/>
                <a:cs typeface="Poppins Regular" pitchFamily="34" charset="-120"/>
              </a:rPr>
              <a:t>Riyadh - Dubai - Delaware </a:t>
            </a:r>
            <a:endParaRPr lang="en-US" sz="1100"/>
          </a:p>
        </p:txBody>
      </p:sp>
      <p:sp>
        <p:nvSpPr>
          <p:cNvPr id="10" name="Copyright 2018-2025 for TachyHealth - All rights reserved"/>
          <p:cNvSpPr/>
          <p:nvPr/>
        </p:nvSpPr>
        <p:spPr>
          <a:xfrm>
            <a:off x="450916" y="6350140"/>
            <a:ext cx="4267200" cy="215737"/>
          </a:xfrm>
          <a:prstGeom prst="rect">
            <a:avLst/>
          </a:prstGeom>
          <a:noFill/>
          <a:ln/>
        </p:spPr>
        <p:txBody>
          <a:bodyPr wrap="square" lIns="0" tIns="0" rIns="0" bIns="0" rtlCol="0" anchor="t"/>
          <a:lstStyle/>
          <a:p>
            <a:pPr>
              <a:lnSpc>
                <a:spcPts val="1452"/>
              </a:lnSpc>
            </a:pPr>
            <a:r>
              <a:rPr lang="en-US" sz="1100">
                <a:solidFill>
                  <a:srgbClr val="FFFFFF"/>
                </a:solidFill>
                <a:latin typeface="Poppins Regular" pitchFamily="34" charset="0"/>
                <a:ea typeface="Poppins Regular" pitchFamily="34" charset="-122"/>
                <a:cs typeface="Poppins Regular" pitchFamily="34" charset="-120"/>
              </a:rPr>
              <a:t>© Copyright 2018-2025 for TachyHealth. - All rights reserved</a:t>
            </a:r>
            <a:endParaRPr lang="en-US" sz="1100"/>
          </a:p>
        </p:txBody>
      </p:sp>
      <p:cxnSp>
        <p:nvCxnSpPr>
          <p:cNvPr id="16" name="Straight Connector 15">
            <a:extLst>
              <a:ext uri="{FF2B5EF4-FFF2-40B4-BE49-F238E27FC236}">
                <a16:creationId xmlns:a16="http://schemas.microsoft.com/office/drawing/2014/main" id="{19C4EAEF-AB34-62D8-E7D0-BFFC5512A6FC}"/>
              </a:ext>
            </a:extLst>
          </p:cNvPr>
          <p:cNvCxnSpPr>
            <a:cxnSpLocks/>
          </p:cNvCxnSpPr>
          <p:nvPr/>
        </p:nvCxnSpPr>
        <p:spPr>
          <a:xfrm>
            <a:off x="450916" y="6208597"/>
            <a:ext cx="11290168" cy="0"/>
          </a:xfrm>
          <a:prstGeom prst="line">
            <a:avLst/>
          </a:prstGeom>
          <a:ln w="19050">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pic>
        <p:nvPicPr>
          <p:cNvPr id="21" name="Header Logo white" descr="preencoded.png">
            <a:extLst>
              <a:ext uri="{FF2B5EF4-FFF2-40B4-BE49-F238E27FC236}">
                <a16:creationId xmlns:a16="http://schemas.microsoft.com/office/drawing/2014/main" id="{D3911CA3-A7BF-8248-940D-7DAA6DA3B91E}"/>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38318" y="114809"/>
            <a:ext cx="2350921" cy="600882"/>
          </a:xfrm>
          <a:prstGeom prst="rect">
            <a:avLst/>
          </a:prstGeom>
        </p:spPr>
      </p:pic>
      <p:pic>
        <p:nvPicPr>
          <p:cNvPr id="22" name="Header Logo white" descr="preencoded.png">
            <a:extLst>
              <a:ext uri="{FF2B5EF4-FFF2-40B4-BE49-F238E27FC236}">
                <a16:creationId xmlns:a16="http://schemas.microsoft.com/office/drawing/2014/main" id="{41AEA951-4047-BC53-9E03-F84E6F0D8213}"/>
              </a:ext>
            </a:extLst>
          </p:cNvPr>
          <p:cNvPicPr>
            <a:picLocks noChangeAspect="1"/>
          </p:cNvPicPr>
          <p:nvPr/>
        </p:nvPicPr>
        <p:blipFill rotWithShape="1">
          <a:blip r:embed="rId6">
            <a:extLst>
              <a:ext uri="{96DAC541-7B7A-43D3-8B79-37D633B846F1}">
                <asvg:svgBlip xmlns:asvg="http://schemas.microsoft.com/office/drawing/2016/SVG/main" r:embed="rId7"/>
              </a:ext>
            </a:extLst>
          </a:blip>
          <a:srcRect r="60349"/>
          <a:stretch/>
        </p:blipFill>
        <p:spPr>
          <a:xfrm>
            <a:off x="7412494" y="498965"/>
            <a:ext cx="8657177" cy="5559192"/>
          </a:xfrm>
          <a:prstGeom prst="rect">
            <a:avLst/>
          </a:prstGeom>
        </p:spPr>
      </p:pic>
      <p:pic>
        <p:nvPicPr>
          <p:cNvPr id="4" name="Picture 3">
            <a:extLst>
              <a:ext uri="{FF2B5EF4-FFF2-40B4-BE49-F238E27FC236}">
                <a16:creationId xmlns:a16="http://schemas.microsoft.com/office/drawing/2014/main" id="{BAF590D7-CA73-6E85-4BEB-3F5F99DDC502}"/>
              </a:ext>
            </a:extLst>
          </p:cNvPr>
          <p:cNvPicPr>
            <a:picLocks noChangeAspect="1"/>
          </p:cNvPicPr>
          <p:nvPr/>
        </p:nvPicPr>
        <p:blipFill>
          <a:blip r:embed="rId8" cstate="print">
            <a:biLevel thresh="25000"/>
            <a:extLst>
              <a:ext uri="{BEBA8EAE-BF5A-486C-A8C5-ECC9F3942E4B}">
                <a14:imgProps xmlns:a14="http://schemas.microsoft.com/office/drawing/2010/main">
                  <a14:imgLayer r:embed="rId9">
                    <a14:imgEffect>
                      <a14:saturation sat="0"/>
                    </a14:imgEffect>
                  </a14:imgLayer>
                </a14:imgProps>
              </a:ext>
              <a:ext uri="{28A0092B-C50C-407E-A947-70E740481C1C}">
                <a14:useLocalDpi xmlns:a14="http://schemas.microsoft.com/office/drawing/2010/main" val="0"/>
              </a:ext>
            </a:extLst>
          </a:blip>
          <a:stretch>
            <a:fillRect/>
          </a:stretch>
        </p:blipFill>
        <p:spPr>
          <a:xfrm>
            <a:off x="38318" y="961133"/>
            <a:ext cx="4552320" cy="1757036"/>
          </a:xfrm>
          <a:prstGeom prst="rect">
            <a:avLst/>
          </a:prstGeom>
        </p:spPr>
      </p:pic>
      <p:sp>
        <p:nvSpPr>
          <p:cNvPr id="5" name="TextBox 4">
            <a:extLst>
              <a:ext uri="{FF2B5EF4-FFF2-40B4-BE49-F238E27FC236}">
                <a16:creationId xmlns:a16="http://schemas.microsoft.com/office/drawing/2014/main" id="{4B0E7D2B-2969-4407-C4B9-589EDA5D3699}"/>
              </a:ext>
            </a:extLst>
          </p:cNvPr>
          <p:cNvSpPr txBox="1"/>
          <p:nvPr/>
        </p:nvSpPr>
        <p:spPr>
          <a:xfrm>
            <a:off x="4040720" y="1473627"/>
            <a:ext cx="738787" cy="830997"/>
          </a:xfrm>
          <a:prstGeom prst="rect">
            <a:avLst/>
          </a:prstGeom>
          <a:noFill/>
        </p:spPr>
        <p:txBody>
          <a:bodyPr wrap="square" rtlCol="0">
            <a:spAutoFit/>
          </a:bodyPr>
          <a:lstStyle/>
          <a:p>
            <a:r>
              <a:rPr lang="en-US" sz="4800" b="1">
                <a:solidFill>
                  <a:schemeClr val="bg1"/>
                </a:solidFill>
                <a:latin typeface="Poppins" panose="00000500000000000000" pitchFamily="2" charset="0"/>
                <a:cs typeface="Poppins" panose="00000500000000000000" pitchFamily="2" charset="0"/>
              </a:rPr>
              <a: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5891F-636A-305F-9DF6-9C302A09A797}"/>
              </a:ext>
            </a:extLst>
          </p:cNvPr>
          <p:cNvSpPr>
            <a:spLocks noGrp="1"/>
          </p:cNvSpPr>
          <p:nvPr>
            <p:ph type="title"/>
          </p:nvPr>
        </p:nvSpPr>
        <p:spPr/>
        <p:txBody>
          <a:bodyPr/>
          <a:lstStyle/>
          <a:p>
            <a:r>
              <a:rPr lang="en-US" sz="4800" b="1" dirty="0">
                <a:solidFill>
                  <a:schemeClr val="bg1"/>
                </a:solidFill>
                <a:latin typeface="Poppins" panose="00000500000000000000" pitchFamily="2" charset="0"/>
                <a:ea typeface="+mn-ea"/>
                <a:cs typeface="Poppins" panose="00000500000000000000" pitchFamily="2" charset="0"/>
              </a:rPr>
              <a:t>Agenda </a:t>
            </a:r>
          </a:p>
        </p:txBody>
      </p:sp>
      <p:sp>
        <p:nvSpPr>
          <p:cNvPr id="4" name="Text Placeholder 3">
            <a:extLst>
              <a:ext uri="{FF2B5EF4-FFF2-40B4-BE49-F238E27FC236}">
                <a16:creationId xmlns:a16="http://schemas.microsoft.com/office/drawing/2014/main" id="{B22CBE39-ADF5-5845-7329-6F3E08BA86B2}"/>
              </a:ext>
            </a:extLst>
          </p:cNvPr>
          <p:cNvSpPr>
            <a:spLocks noGrp="1"/>
          </p:cNvSpPr>
          <p:nvPr>
            <p:ph type="body" sz="half" idx="2"/>
          </p:nvPr>
        </p:nvSpPr>
        <p:spPr>
          <a:xfrm>
            <a:off x="1488717" y="2460523"/>
            <a:ext cx="4440135" cy="3811588"/>
          </a:xfrm>
        </p:spPr>
        <p:txBody>
          <a:bodyPr>
            <a:normAutofit/>
          </a:bodyPr>
          <a:lstStyle/>
          <a:p>
            <a:pPr marL="457200" indent="-457200">
              <a:buFont typeface="+mj-lt"/>
              <a:buAutoNum type="arabicPeriod"/>
            </a:pPr>
            <a:r>
              <a:rPr lang="en-US" sz="1900" dirty="0" err="1">
                <a:solidFill>
                  <a:schemeClr val="bg1"/>
                </a:solidFill>
                <a:latin typeface="Poppins"/>
              </a:rPr>
              <a:t>AiPharma</a:t>
            </a:r>
            <a:r>
              <a:rPr lang="en-US" sz="1900" dirty="0">
                <a:solidFill>
                  <a:schemeClr val="bg1"/>
                </a:solidFill>
                <a:latin typeface="Poppins"/>
              </a:rPr>
              <a:t> Overview</a:t>
            </a:r>
          </a:p>
          <a:p>
            <a:pPr marL="457200" indent="-457200">
              <a:buFont typeface="+mj-lt"/>
              <a:buAutoNum type="arabicPeriod"/>
            </a:pPr>
            <a:r>
              <a:rPr lang="en-US" sz="1900" dirty="0">
                <a:solidFill>
                  <a:schemeClr val="bg1"/>
                </a:solidFill>
                <a:latin typeface="Poppins"/>
              </a:rPr>
              <a:t>Key Value Pillars</a:t>
            </a:r>
          </a:p>
          <a:p>
            <a:pPr marL="457200" indent="-457200">
              <a:buFont typeface="+mj-lt"/>
              <a:buAutoNum type="arabicPeriod"/>
            </a:pPr>
            <a:r>
              <a:rPr lang="en-US" sz="1900" dirty="0" err="1">
                <a:solidFill>
                  <a:schemeClr val="bg1"/>
                </a:solidFill>
                <a:latin typeface="Poppins"/>
              </a:rPr>
              <a:t>AiPharma</a:t>
            </a:r>
            <a:r>
              <a:rPr lang="en-US" sz="1900" dirty="0">
                <a:solidFill>
                  <a:schemeClr val="bg1"/>
                </a:solidFill>
                <a:latin typeface="Poppins"/>
              </a:rPr>
              <a:t> Logics</a:t>
            </a:r>
          </a:p>
          <a:p>
            <a:pPr marL="457200" indent="-457200">
              <a:buFont typeface="+mj-lt"/>
              <a:buAutoNum type="arabicPeriod"/>
            </a:pPr>
            <a:r>
              <a:rPr lang="en-US" sz="1900" dirty="0" err="1">
                <a:solidFill>
                  <a:schemeClr val="bg1"/>
                </a:solidFill>
                <a:latin typeface="Poppins"/>
              </a:rPr>
              <a:t>AiPharma</a:t>
            </a:r>
            <a:r>
              <a:rPr lang="en-US" sz="1900" dirty="0">
                <a:solidFill>
                  <a:schemeClr val="bg1"/>
                </a:solidFill>
                <a:latin typeface="Poppins"/>
              </a:rPr>
              <a:t> Features</a:t>
            </a:r>
          </a:p>
          <a:p>
            <a:pPr marL="457200" indent="-457200">
              <a:buFont typeface="+mj-lt"/>
              <a:buAutoNum type="arabicPeriod"/>
            </a:pPr>
            <a:r>
              <a:rPr lang="en-US" sz="1900" dirty="0">
                <a:solidFill>
                  <a:schemeClr val="bg1"/>
                </a:solidFill>
                <a:latin typeface="Poppins"/>
              </a:rPr>
              <a:t>Live Demo: </a:t>
            </a:r>
            <a:r>
              <a:rPr lang="en-US" sz="1900" dirty="0" err="1">
                <a:solidFill>
                  <a:schemeClr val="bg1"/>
                </a:solidFill>
                <a:latin typeface="Poppins"/>
              </a:rPr>
              <a:t>AiPharma</a:t>
            </a:r>
            <a:r>
              <a:rPr lang="en-US" sz="1900" dirty="0">
                <a:solidFill>
                  <a:schemeClr val="bg1"/>
                </a:solidFill>
                <a:latin typeface="Poppins"/>
              </a:rPr>
              <a:t> in Action</a:t>
            </a:r>
          </a:p>
          <a:p>
            <a:pPr marL="457200" indent="-457200">
              <a:buFont typeface="+mj-lt"/>
              <a:buAutoNum type="arabicPeriod"/>
            </a:pPr>
            <a:r>
              <a:rPr lang="en-US" sz="1900" dirty="0">
                <a:solidFill>
                  <a:schemeClr val="bg1"/>
                </a:solidFill>
                <a:latin typeface="Poppins"/>
              </a:rPr>
              <a:t>What’s Next</a:t>
            </a:r>
          </a:p>
          <a:p>
            <a:endParaRPr lang="en-US" dirty="0"/>
          </a:p>
        </p:txBody>
      </p:sp>
      <p:pic>
        <p:nvPicPr>
          <p:cNvPr id="10" name="Picture Placeholder 9" descr="A doctor holding a cell phone&#10;&#10;AI-generated content may be incorrect.">
            <a:extLst>
              <a:ext uri="{FF2B5EF4-FFF2-40B4-BE49-F238E27FC236}">
                <a16:creationId xmlns:a16="http://schemas.microsoft.com/office/drawing/2014/main" id="{D3F41626-436C-C04F-689D-CD13636606EF}"/>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53253" t="-267" r="1326" b="267"/>
          <a:stretch>
            <a:fillRect/>
          </a:stretch>
        </p:blipFill>
        <p:spPr>
          <a:xfrm>
            <a:off x="7419977" y="987425"/>
            <a:ext cx="3935411" cy="4873625"/>
          </a:xfrm>
          <a:prstGeom prst="rect">
            <a:avLst/>
          </a:prstGeom>
          <a:ln>
            <a:noFill/>
          </a:ln>
          <a:effectLst>
            <a:softEdge rad="112500"/>
          </a:effectLst>
        </p:spPr>
      </p:pic>
    </p:spTree>
    <p:extLst>
      <p:ext uri="{BB962C8B-B14F-4D97-AF65-F5344CB8AC3E}">
        <p14:creationId xmlns:p14="http://schemas.microsoft.com/office/powerpoint/2010/main" val="26410434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3042A3D-5B0F-768D-FB32-4CD022FC1DF1}"/>
              </a:ext>
            </a:extLst>
          </p:cNvPr>
          <p:cNvSpPr>
            <a:spLocks noGrp="1" noRot="1" noMove="1" noResize="1" noEditPoints="1" noAdjustHandles="1" noChangeArrowheads="1" noChangeShapeType="1"/>
          </p:cNvSpPr>
          <p:nvPr/>
        </p:nvSpPr>
        <p:spPr>
          <a:xfrm>
            <a:off x="13727" y="5697399"/>
            <a:ext cx="12193888" cy="878630"/>
          </a:xfrm>
          <a:prstGeom prst="rect">
            <a:avLst/>
          </a:prstGeom>
          <a:solidFill>
            <a:schemeClr val="bg1">
              <a:alpha val="66000"/>
            </a:schemeClr>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5">
            <a:extLst>
              <a:ext uri="{FF2B5EF4-FFF2-40B4-BE49-F238E27FC236}">
                <a16:creationId xmlns:a16="http://schemas.microsoft.com/office/drawing/2014/main" id="{D79C154B-FD05-4A7B-101A-06E39048D86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938534" y="1884949"/>
            <a:ext cx="5113817" cy="3517919"/>
          </a:xfrm>
          <a:prstGeom prst="rect">
            <a:avLst/>
          </a:prstGeom>
        </p:spPr>
      </p:pic>
      <p:sp>
        <p:nvSpPr>
          <p:cNvPr id="4" name="TextBox 6">
            <a:extLst>
              <a:ext uri="{FF2B5EF4-FFF2-40B4-BE49-F238E27FC236}">
                <a16:creationId xmlns:a16="http://schemas.microsoft.com/office/drawing/2014/main" id="{865F8255-AC9A-A619-C34A-B932FFC8EC1C}"/>
              </a:ext>
            </a:extLst>
          </p:cNvPr>
          <p:cNvSpPr txBox="1"/>
          <p:nvPr/>
        </p:nvSpPr>
        <p:spPr>
          <a:xfrm>
            <a:off x="389295" y="2738924"/>
            <a:ext cx="5576075" cy="2413866"/>
          </a:xfrm>
          <a:prstGeom prst="rect">
            <a:avLst/>
          </a:prstGeom>
        </p:spPr>
        <p:txBody>
          <a:bodyPr wrap="square" lIns="0" tIns="0" rIns="0" bIns="0" rtlCol="0" anchor="t">
            <a:spAutoFit/>
          </a:bodyPr>
          <a:lstStyle/>
          <a:p>
            <a:pPr>
              <a:lnSpc>
                <a:spcPts val="2146"/>
              </a:lnSpc>
            </a:pPr>
            <a:r>
              <a:rPr lang="en-US" sz="1600" spc="35" dirty="0">
                <a:solidFill>
                  <a:schemeClr val="bg1"/>
                </a:solidFill>
                <a:latin typeface="Poppins" panose="00000500000000000000" pitchFamily="2" charset="0"/>
                <a:ea typeface="Lato" panose="020F0502020204030203" pitchFamily="34" charset="0"/>
                <a:cs typeface="Poppins" panose="00000500000000000000" pitchFamily="2" charset="0"/>
              </a:rPr>
              <a:t>Our PBM solution, integrated within </a:t>
            </a:r>
            <a:r>
              <a:rPr lang="en-US" sz="1600" spc="35" dirty="0" err="1">
                <a:solidFill>
                  <a:schemeClr val="bg1"/>
                </a:solidFill>
                <a:latin typeface="Poppins" panose="00000500000000000000" pitchFamily="2" charset="0"/>
                <a:ea typeface="Lato" panose="020F0502020204030203" pitchFamily="34" charset="0"/>
                <a:cs typeface="Poppins" panose="00000500000000000000" pitchFamily="2" charset="0"/>
              </a:rPr>
              <a:t>AiReview</a:t>
            </a:r>
            <a:r>
              <a:rPr lang="en-US" sz="1600" spc="35" dirty="0">
                <a:solidFill>
                  <a:schemeClr val="bg1"/>
                </a:solidFill>
                <a:latin typeface="Poppins" panose="00000500000000000000" pitchFamily="2" charset="0"/>
                <a:ea typeface="Lato" panose="020F0502020204030203" pitchFamily="34" charset="0"/>
                <a:cs typeface="Poppins" panose="00000500000000000000" pitchFamily="2" charset="0"/>
              </a:rPr>
              <a:t>, harnesses the power of artificial intelligence and data science in the adjudication and analytics of the medication related claims, authorizations, and FWA. It encompasses multiple components to provide a comprehensive solution including rebate management, network management, advanced analytics, and comes with the ability to connect with providers and members through portals.</a:t>
            </a:r>
            <a:endParaRPr lang="en-US" spc="35" dirty="0">
              <a:solidFill>
                <a:schemeClr val="bg1"/>
              </a:solidFill>
              <a:latin typeface="Poppins" panose="00000500000000000000" pitchFamily="2" charset="0"/>
              <a:cs typeface="Poppins" panose="00000500000000000000" pitchFamily="2" charset="0"/>
            </a:endParaRPr>
          </a:p>
        </p:txBody>
      </p:sp>
      <p:sp>
        <p:nvSpPr>
          <p:cNvPr id="7" name="TextBox 6">
            <a:extLst>
              <a:ext uri="{FF2B5EF4-FFF2-40B4-BE49-F238E27FC236}">
                <a16:creationId xmlns:a16="http://schemas.microsoft.com/office/drawing/2014/main" id="{92255B27-7032-BD63-83E1-C89F561BCA62}"/>
              </a:ext>
            </a:extLst>
          </p:cNvPr>
          <p:cNvSpPr txBox="1"/>
          <p:nvPr/>
        </p:nvSpPr>
        <p:spPr>
          <a:xfrm>
            <a:off x="773898" y="5905881"/>
            <a:ext cx="2168930" cy="461665"/>
          </a:xfrm>
          <a:prstGeom prst="rect">
            <a:avLst/>
          </a:prstGeom>
          <a:noFill/>
        </p:spPr>
        <p:txBody>
          <a:bodyPr wrap="square" lIns="91440" tIns="45720" rIns="91440" bIns="45720" anchor="t">
            <a:spAutoFit/>
          </a:bodyPr>
          <a:lstStyle/>
          <a:p>
            <a:pPr algn="ctr"/>
            <a:r>
              <a:rPr lang="en-US" sz="1200" spc="35">
                <a:latin typeface="Poppins"/>
                <a:ea typeface="Lato"/>
                <a:cs typeface="Poppins"/>
              </a:rPr>
              <a:t>Optimize medication  management</a:t>
            </a:r>
            <a:endParaRPr lang="en-US" sz="1200">
              <a:latin typeface="Poppins"/>
              <a:ea typeface="Lato"/>
              <a:cs typeface="Poppins"/>
            </a:endParaRPr>
          </a:p>
        </p:txBody>
      </p:sp>
      <p:sp>
        <p:nvSpPr>
          <p:cNvPr id="8" name="TextBox 7">
            <a:extLst>
              <a:ext uri="{FF2B5EF4-FFF2-40B4-BE49-F238E27FC236}">
                <a16:creationId xmlns:a16="http://schemas.microsoft.com/office/drawing/2014/main" id="{683B283E-0BA5-1950-6FBB-C5FA2AD60300}"/>
              </a:ext>
            </a:extLst>
          </p:cNvPr>
          <p:cNvSpPr txBox="1"/>
          <p:nvPr/>
        </p:nvSpPr>
        <p:spPr>
          <a:xfrm>
            <a:off x="4523873" y="5947477"/>
            <a:ext cx="2620991" cy="276999"/>
          </a:xfrm>
          <a:prstGeom prst="rect">
            <a:avLst/>
          </a:prstGeom>
          <a:noFill/>
        </p:spPr>
        <p:txBody>
          <a:bodyPr wrap="square">
            <a:spAutoFit/>
          </a:bodyPr>
          <a:lstStyle/>
          <a:p>
            <a:pPr algn="ctr"/>
            <a:r>
              <a:rPr lang="en-US" sz="1200" spc="35">
                <a:latin typeface="Poppins" panose="00000500000000000000" pitchFamily="2" charset="0"/>
                <a:ea typeface="Lato" panose="020F0502020204030203" pitchFamily="34" charset="0"/>
                <a:cs typeface="Poppins" panose="00000500000000000000" pitchFamily="2" charset="0"/>
              </a:rPr>
              <a:t>  Reduce costs</a:t>
            </a:r>
            <a:endParaRPr lang="en-US" sz="1200"/>
          </a:p>
        </p:txBody>
      </p:sp>
      <p:sp>
        <p:nvSpPr>
          <p:cNvPr id="9" name="TextBox 8">
            <a:extLst>
              <a:ext uri="{FF2B5EF4-FFF2-40B4-BE49-F238E27FC236}">
                <a16:creationId xmlns:a16="http://schemas.microsoft.com/office/drawing/2014/main" id="{AE7C253C-1A1A-956E-3B00-08A6124ACD51}"/>
              </a:ext>
            </a:extLst>
          </p:cNvPr>
          <p:cNvSpPr txBox="1"/>
          <p:nvPr/>
        </p:nvSpPr>
        <p:spPr>
          <a:xfrm>
            <a:off x="9014195" y="5905881"/>
            <a:ext cx="2620991" cy="461665"/>
          </a:xfrm>
          <a:prstGeom prst="rect">
            <a:avLst/>
          </a:prstGeom>
          <a:noFill/>
        </p:spPr>
        <p:txBody>
          <a:bodyPr wrap="square">
            <a:spAutoFit/>
          </a:bodyPr>
          <a:lstStyle/>
          <a:p>
            <a:pPr algn="ctr"/>
            <a:r>
              <a:rPr lang="en-US" sz="1200" spc="35">
                <a:latin typeface="Poppins" panose="00000500000000000000" pitchFamily="2" charset="0"/>
                <a:ea typeface="Lato" panose="020F0502020204030203" pitchFamily="34" charset="0"/>
                <a:cs typeface="Poppins" panose="00000500000000000000" pitchFamily="2" charset="0"/>
              </a:rPr>
              <a:t>Improve patient </a:t>
            </a:r>
          </a:p>
          <a:p>
            <a:pPr algn="ctr"/>
            <a:r>
              <a:rPr lang="en-US" sz="1200" spc="35">
                <a:latin typeface="Poppins" panose="00000500000000000000" pitchFamily="2" charset="0"/>
                <a:ea typeface="Lato" panose="020F0502020204030203" pitchFamily="34" charset="0"/>
                <a:cs typeface="Poppins" panose="00000500000000000000" pitchFamily="2" charset="0"/>
              </a:rPr>
              <a:t>Outcomes </a:t>
            </a:r>
            <a:endParaRPr lang="en-US" sz="1200"/>
          </a:p>
        </p:txBody>
      </p:sp>
      <p:pic>
        <p:nvPicPr>
          <p:cNvPr id="10" name="Graphic 9" descr="Bar graph with downward trend outline">
            <a:extLst>
              <a:ext uri="{FF2B5EF4-FFF2-40B4-BE49-F238E27FC236}">
                <a16:creationId xmlns:a16="http://schemas.microsoft.com/office/drawing/2014/main" id="{727B2E14-EDD8-BC91-D7DF-8E47A4EE58F5}"/>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661876" y="5821245"/>
            <a:ext cx="551766" cy="551766"/>
          </a:xfrm>
          <a:prstGeom prst="rect">
            <a:avLst/>
          </a:prstGeom>
        </p:spPr>
      </p:pic>
      <p:pic>
        <p:nvPicPr>
          <p:cNvPr id="11" name="Graphic 10" descr="Medicine outline">
            <a:extLst>
              <a:ext uri="{FF2B5EF4-FFF2-40B4-BE49-F238E27FC236}">
                <a16:creationId xmlns:a16="http://schemas.microsoft.com/office/drawing/2014/main" id="{5144A89D-6CF6-B3A5-7068-BAD739ED250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76946" y="5818644"/>
            <a:ext cx="636140" cy="636140"/>
          </a:xfrm>
          <a:prstGeom prst="rect">
            <a:avLst/>
          </a:prstGeom>
        </p:spPr>
      </p:pic>
      <p:pic>
        <p:nvPicPr>
          <p:cNvPr id="12" name="Graphic 11" descr="Business Growth outline">
            <a:extLst>
              <a:ext uri="{FF2B5EF4-FFF2-40B4-BE49-F238E27FC236}">
                <a16:creationId xmlns:a16="http://schemas.microsoft.com/office/drawing/2014/main" id="{A7CA46F4-7CF5-0B23-60F3-F0C30D3D806F}"/>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725909" y="5770974"/>
            <a:ext cx="707571" cy="707571"/>
          </a:xfrm>
          <a:prstGeom prst="rect">
            <a:avLst/>
          </a:prstGeom>
        </p:spPr>
      </p:pic>
      <p:pic>
        <p:nvPicPr>
          <p:cNvPr id="13" name="Picture 12">
            <a:extLst>
              <a:ext uri="{FF2B5EF4-FFF2-40B4-BE49-F238E27FC236}">
                <a16:creationId xmlns:a16="http://schemas.microsoft.com/office/drawing/2014/main" id="{22F825A7-50D8-6A1D-61FE-F094C42E405D}"/>
              </a:ext>
            </a:extLst>
          </p:cNvPr>
          <p:cNvPicPr>
            <a:picLocks noChangeAspect="1"/>
          </p:cNvPicPr>
          <p:nvPr/>
        </p:nvPicPr>
        <p:blipFill>
          <a:blip r:embed="rId10"/>
          <a:stretch>
            <a:fillRect/>
          </a:stretch>
        </p:blipFill>
        <p:spPr>
          <a:xfrm>
            <a:off x="7517075" y="2010077"/>
            <a:ext cx="3981212" cy="2363333"/>
          </a:xfrm>
          <a:prstGeom prst="rect">
            <a:avLst/>
          </a:prstGeom>
        </p:spPr>
      </p:pic>
      <p:sp>
        <p:nvSpPr>
          <p:cNvPr id="14" name="TextBox 21">
            <a:extLst>
              <a:ext uri="{FF2B5EF4-FFF2-40B4-BE49-F238E27FC236}">
                <a16:creationId xmlns:a16="http://schemas.microsoft.com/office/drawing/2014/main" id="{B3E0F609-299A-8C3C-9888-8D1A67DB6CC2}"/>
              </a:ext>
            </a:extLst>
          </p:cNvPr>
          <p:cNvSpPr txBox="1"/>
          <p:nvPr/>
        </p:nvSpPr>
        <p:spPr>
          <a:xfrm>
            <a:off x="276946" y="168417"/>
            <a:ext cx="11029904" cy="984885"/>
          </a:xfrm>
          <a:prstGeom prst="rect">
            <a:avLst/>
          </a:prstGeom>
        </p:spPr>
        <p:txBody>
          <a:bodyPr wrap="square" lIns="0" tIns="0" rIns="0" bIns="0" rtlCol="0" anchor="t">
            <a:spAutoFit/>
          </a:bodyPr>
          <a:lstStyle>
            <a:defPPr>
              <a:defRPr lang="en-US"/>
            </a:defPPr>
            <a:lvl1pPr algn="ctr" defTabSz="609630">
              <a:defRPr sz="2800">
                <a:solidFill>
                  <a:srgbClr val="AF1A8C"/>
                </a:solidFill>
                <a:latin typeface="Poppins"/>
              </a:defRPr>
            </a:lvl1pPr>
          </a:lstStyle>
          <a:p>
            <a:pPr algn="l"/>
            <a:r>
              <a:rPr lang="en-US" sz="3200" dirty="0">
                <a:solidFill>
                  <a:schemeClr val="bg1"/>
                </a:solidFill>
              </a:rPr>
              <a:t>Delivering the best-in-class pharmacy management solutions blended within our insurance flagship</a:t>
            </a:r>
          </a:p>
        </p:txBody>
      </p:sp>
      <p:pic>
        <p:nvPicPr>
          <p:cNvPr id="15" name="Picture 14">
            <a:extLst>
              <a:ext uri="{FF2B5EF4-FFF2-40B4-BE49-F238E27FC236}">
                <a16:creationId xmlns:a16="http://schemas.microsoft.com/office/drawing/2014/main" id="{BDCABF62-D674-6806-1929-A4058CBB090F}"/>
              </a:ext>
            </a:extLst>
          </p:cNvPr>
          <p:cNvPicPr>
            <a:picLocks noChangeAspect="1"/>
          </p:cNvPicPr>
          <p:nvPr/>
        </p:nvPicPr>
        <p:blipFill>
          <a:blip r:embed="rId11" cstate="print">
            <a:biLevel thresh="25000"/>
            <a:extLst>
              <a:ext uri="{BEBA8EAE-BF5A-486C-A8C5-ECC9F3942E4B}">
                <a14:imgProps xmlns:a14="http://schemas.microsoft.com/office/drawing/2010/main">
                  <a14:imgLayer r:embed="rId12">
                    <a14:imgEffect>
                      <a14:saturation sat="0"/>
                    </a14:imgEffect>
                  </a14:imgLayer>
                </a14:imgProps>
              </a:ext>
              <a:ext uri="{28A0092B-C50C-407E-A947-70E740481C1C}">
                <a14:useLocalDpi xmlns:a14="http://schemas.microsoft.com/office/drawing/2010/main" val="0"/>
              </a:ext>
            </a:extLst>
          </a:blip>
          <a:stretch>
            <a:fillRect/>
          </a:stretch>
        </p:blipFill>
        <p:spPr>
          <a:xfrm>
            <a:off x="38318" y="1278341"/>
            <a:ext cx="3791720" cy="1463471"/>
          </a:xfrm>
          <a:prstGeom prst="rect">
            <a:avLst/>
          </a:prstGeom>
        </p:spPr>
      </p:pic>
    </p:spTree>
    <p:extLst>
      <p:ext uri="{BB962C8B-B14F-4D97-AF65-F5344CB8AC3E}">
        <p14:creationId xmlns:p14="http://schemas.microsoft.com/office/powerpoint/2010/main" val="3023996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1" descr="preencoded.png">
            <a:extLst>
              <a:ext uri="{FF2B5EF4-FFF2-40B4-BE49-F238E27FC236}">
                <a16:creationId xmlns:a16="http://schemas.microsoft.com/office/drawing/2014/main" id="{7B6B7277-E6A5-1924-B6E2-FAAFE277CAA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722848" y="4368301"/>
            <a:ext cx="3900761" cy="2182351"/>
          </a:xfrm>
          <a:prstGeom prst="rect">
            <a:avLst/>
          </a:prstGeom>
        </p:spPr>
      </p:pic>
      <p:pic>
        <p:nvPicPr>
          <p:cNvPr id="9" name="1" descr="preencoded.png">
            <a:extLst>
              <a:ext uri="{FF2B5EF4-FFF2-40B4-BE49-F238E27FC236}">
                <a16:creationId xmlns:a16="http://schemas.microsoft.com/office/drawing/2014/main" id="{1D2DFBF8-313B-D13E-46E8-A58D8CD93F91}"/>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6919101" y="4368300"/>
            <a:ext cx="3900761" cy="2182351"/>
          </a:xfrm>
          <a:prstGeom prst="rect">
            <a:avLst/>
          </a:prstGeom>
        </p:spPr>
      </p:pic>
      <p:pic>
        <p:nvPicPr>
          <p:cNvPr id="2" name="1" descr="preencoded.png">
            <a:extLst>
              <a:ext uri="{FF2B5EF4-FFF2-40B4-BE49-F238E27FC236}">
                <a16:creationId xmlns:a16="http://schemas.microsoft.com/office/drawing/2014/main" id="{E4FCE16B-DABD-046D-68E4-CA0D169F490B}"/>
              </a:ext>
            </a:extLst>
          </p:cNvPr>
          <p:cNvPicPr>
            <a:picLocks noGrp="1" noRot="1" noChangeAspect="1" noMove="1" noResize="1" noEditPoints="1" noAdjustHandles="1" noChangeArrowheads="1" noChangeShapeType="1" noCrop="1"/>
          </p:cNvPicPr>
          <p:nvPr/>
        </p:nvPicPr>
        <p:blipFill>
          <a:blip r:embed="rId4">
            <a:extLst>
              <a:ext uri="{96DAC541-7B7A-43D3-8B79-37D633B846F1}">
                <asvg:svgBlip xmlns:asvg="http://schemas.microsoft.com/office/drawing/2016/SVG/main" r:embed="rId5"/>
              </a:ext>
            </a:extLst>
          </a:blip>
          <a:srcRect/>
          <a:stretch/>
        </p:blipFill>
        <p:spPr>
          <a:xfrm>
            <a:off x="-216472" y="3933919"/>
            <a:ext cx="12624943" cy="3205200"/>
          </a:xfrm>
          <a:prstGeom prst="rect">
            <a:avLst/>
          </a:prstGeom>
        </p:spPr>
      </p:pic>
      <p:sp>
        <p:nvSpPr>
          <p:cNvPr id="70" name="TextBox 69">
            <a:extLst>
              <a:ext uri="{FF2B5EF4-FFF2-40B4-BE49-F238E27FC236}">
                <a16:creationId xmlns:a16="http://schemas.microsoft.com/office/drawing/2014/main" id="{3F32E15F-3852-D44E-6384-D6A033435042}"/>
              </a:ext>
            </a:extLst>
          </p:cNvPr>
          <p:cNvSpPr txBox="1"/>
          <p:nvPr/>
        </p:nvSpPr>
        <p:spPr>
          <a:xfrm>
            <a:off x="903740" y="4732455"/>
            <a:ext cx="3391475" cy="338554"/>
          </a:xfrm>
          <a:prstGeom prst="rect">
            <a:avLst/>
          </a:prstGeom>
          <a:noFill/>
        </p:spPr>
        <p:txBody>
          <a:bodyPr wrap="square" rtlCol="0">
            <a:spAutoFit/>
          </a:bodyPr>
          <a:lstStyle/>
          <a:p>
            <a:r>
              <a:rPr lang="id-ID" sz="1600" b="1">
                <a:solidFill>
                  <a:schemeClr val="bg1"/>
                </a:solidFill>
                <a:latin typeface="Poppins" panose="00000500000000000000" pitchFamily="2" charset="0"/>
                <a:cs typeface="Poppins" panose="00000500000000000000" pitchFamily="2" charset="0"/>
              </a:rPr>
              <a:t>Regulatory Compliance </a:t>
            </a:r>
          </a:p>
        </p:txBody>
      </p:sp>
      <p:sp>
        <p:nvSpPr>
          <p:cNvPr id="71" name="Google Shape;22;p1">
            <a:extLst>
              <a:ext uri="{FF2B5EF4-FFF2-40B4-BE49-F238E27FC236}">
                <a16:creationId xmlns:a16="http://schemas.microsoft.com/office/drawing/2014/main" id="{FCAE613D-2F1E-F1F6-E10C-EBA83DFFDDA9}"/>
              </a:ext>
            </a:extLst>
          </p:cNvPr>
          <p:cNvSpPr txBox="1"/>
          <p:nvPr/>
        </p:nvSpPr>
        <p:spPr>
          <a:xfrm>
            <a:off x="903740" y="5280084"/>
            <a:ext cx="3900761" cy="907900"/>
          </a:xfrm>
          <a:prstGeom prst="rect">
            <a:avLst/>
          </a:prstGeom>
          <a:noFill/>
          <a:ln>
            <a:noFill/>
          </a:ln>
        </p:spPr>
        <p:txBody>
          <a:bodyPr spcFirstLastPara="1" wrap="square" lIns="91425" tIns="45700" rIns="91425" bIns="45700" anchor="t" anchorCtr="0">
            <a:spAutoFit/>
          </a:bodyPr>
          <a:lstStyle/>
          <a:p>
            <a:pPr>
              <a:spcBef>
                <a:spcPts val="600"/>
              </a:spcBef>
            </a:pPr>
            <a:r>
              <a:rPr lang="en-US" sz="1600">
                <a:solidFill>
                  <a:schemeClr val="bg1"/>
                </a:solidFill>
                <a:latin typeface="Poppins" panose="00000500000000000000" pitchFamily="2" charset="0"/>
                <a:cs typeface="Poppins" panose="00000500000000000000" pitchFamily="2" charset="0"/>
              </a:rPr>
              <a:t>Built-in FDA, CHI, and Saudi FDA guidelines ensure adherence to local and international standards</a:t>
            </a:r>
          </a:p>
        </p:txBody>
      </p:sp>
      <p:sp>
        <p:nvSpPr>
          <p:cNvPr id="82" name="TextBox 81">
            <a:extLst>
              <a:ext uri="{FF2B5EF4-FFF2-40B4-BE49-F238E27FC236}">
                <a16:creationId xmlns:a16="http://schemas.microsoft.com/office/drawing/2014/main" id="{F7B38929-569C-DA6B-F650-21071D3DD600}"/>
              </a:ext>
            </a:extLst>
          </p:cNvPr>
          <p:cNvSpPr txBox="1"/>
          <p:nvPr/>
        </p:nvSpPr>
        <p:spPr>
          <a:xfrm>
            <a:off x="55707" y="292397"/>
            <a:ext cx="8593157" cy="492443"/>
          </a:xfrm>
          <a:prstGeom prst="rect">
            <a:avLst/>
          </a:prstGeom>
        </p:spPr>
        <p:txBody>
          <a:bodyPr wrap="square" lIns="0" tIns="0" rIns="0" bIns="0" rtlCol="0" anchor="t">
            <a:spAutoFit/>
          </a:bodyPr>
          <a:lstStyle>
            <a:defPPr>
              <a:defRPr lang="en-US"/>
            </a:defPPr>
            <a:lvl1pPr defTabSz="914445">
              <a:defRPr sz="2400">
                <a:solidFill>
                  <a:srgbClr val="AF1A8C"/>
                </a:solidFill>
                <a:latin typeface="Poppins"/>
              </a:defRPr>
            </a:lvl1pPr>
          </a:lstStyle>
          <a:p>
            <a:r>
              <a:rPr lang="en-US" sz="3200">
                <a:solidFill>
                  <a:schemeClr val="bg1"/>
                </a:solidFill>
                <a:latin typeface="Poppins" panose="00000500000000000000" pitchFamily="2" charset="0"/>
                <a:cs typeface="Poppins" panose="00000500000000000000" pitchFamily="2" charset="0"/>
              </a:rPr>
              <a:t>Delivering Measurable Value</a:t>
            </a:r>
          </a:p>
        </p:txBody>
      </p:sp>
      <p:sp>
        <p:nvSpPr>
          <p:cNvPr id="83" name="TextBox 82">
            <a:extLst>
              <a:ext uri="{FF2B5EF4-FFF2-40B4-BE49-F238E27FC236}">
                <a16:creationId xmlns:a16="http://schemas.microsoft.com/office/drawing/2014/main" id="{E997E26A-D58B-3058-4A96-2973457031F6}"/>
              </a:ext>
            </a:extLst>
          </p:cNvPr>
          <p:cNvSpPr txBox="1"/>
          <p:nvPr/>
        </p:nvSpPr>
        <p:spPr>
          <a:xfrm>
            <a:off x="1" y="868201"/>
            <a:ext cx="5929162" cy="646331"/>
          </a:xfrm>
          <a:prstGeom prst="rect">
            <a:avLst/>
          </a:prstGeom>
          <a:noFill/>
        </p:spPr>
        <p:txBody>
          <a:bodyPr wrap="square">
            <a:spAutoFit/>
          </a:bodyPr>
          <a:lstStyle/>
          <a:p>
            <a:pPr>
              <a:spcAft>
                <a:spcPts val="2250"/>
              </a:spcAft>
            </a:pPr>
            <a:r>
              <a:rPr lang="en-US" b="0" i="0">
                <a:solidFill>
                  <a:schemeClr val="bg1"/>
                </a:solidFill>
                <a:effectLst/>
                <a:latin typeface="Poppins" pitchFamily="2" charset="77"/>
                <a:cs typeface="Poppins" pitchFamily="2" charset="77"/>
              </a:rPr>
              <a:t>Transform pharmacy benefit management with AI-powered intelligence</a:t>
            </a:r>
          </a:p>
        </p:txBody>
      </p:sp>
      <p:sp>
        <p:nvSpPr>
          <p:cNvPr id="86" name="TextBox 85">
            <a:extLst>
              <a:ext uri="{FF2B5EF4-FFF2-40B4-BE49-F238E27FC236}">
                <a16:creationId xmlns:a16="http://schemas.microsoft.com/office/drawing/2014/main" id="{E182CFFE-2A91-EE56-7D84-BC3D912BC172}"/>
              </a:ext>
            </a:extLst>
          </p:cNvPr>
          <p:cNvSpPr txBox="1"/>
          <p:nvPr/>
        </p:nvSpPr>
        <p:spPr>
          <a:xfrm>
            <a:off x="7273980" y="4732455"/>
            <a:ext cx="3391475" cy="338554"/>
          </a:xfrm>
          <a:prstGeom prst="rect">
            <a:avLst/>
          </a:prstGeom>
          <a:noFill/>
        </p:spPr>
        <p:txBody>
          <a:bodyPr wrap="square" rtlCol="0">
            <a:spAutoFit/>
          </a:bodyPr>
          <a:lstStyle/>
          <a:p>
            <a:r>
              <a:rPr lang="id-ID" sz="1600" b="1">
                <a:solidFill>
                  <a:schemeClr val="bg1"/>
                </a:solidFill>
                <a:latin typeface="Poppins" panose="00000500000000000000" pitchFamily="2" charset="0"/>
                <a:cs typeface="Poppins" panose="00000500000000000000" pitchFamily="2" charset="0"/>
              </a:rPr>
              <a:t>Seamless Integration</a:t>
            </a:r>
          </a:p>
        </p:txBody>
      </p:sp>
      <p:sp>
        <p:nvSpPr>
          <p:cNvPr id="87" name="Google Shape;22;p1">
            <a:extLst>
              <a:ext uri="{FF2B5EF4-FFF2-40B4-BE49-F238E27FC236}">
                <a16:creationId xmlns:a16="http://schemas.microsoft.com/office/drawing/2014/main" id="{3A400958-339A-6790-E88D-FAF5BDD21104}"/>
              </a:ext>
            </a:extLst>
          </p:cNvPr>
          <p:cNvSpPr txBox="1"/>
          <p:nvPr/>
        </p:nvSpPr>
        <p:spPr>
          <a:xfrm>
            <a:off x="7241754" y="5280084"/>
            <a:ext cx="3708012" cy="907900"/>
          </a:xfrm>
          <a:prstGeom prst="rect">
            <a:avLst/>
          </a:prstGeom>
          <a:noFill/>
          <a:ln>
            <a:noFill/>
          </a:ln>
        </p:spPr>
        <p:txBody>
          <a:bodyPr spcFirstLastPara="1" wrap="square" lIns="91425" tIns="45700" rIns="91425" bIns="45700" anchor="t" anchorCtr="0">
            <a:spAutoFit/>
          </a:bodyPr>
          <a:lstStyle/>
          <a:p>
            <a:pPr>
              <a:spcBef>
                <a:spcPts val="600"/>
              </a:spcBef>
            </a:pPr>
            <a:r>
              <a:rPr lang="en-US" sz="1600">
                <a:solidFill>
                  <a:schemeClr val="bg1"/>
                </a:solidFill>
                <a:latin typeface="Poppins" panose="00000500000000000000" pitchFamily="2" charset="0"/>
                <a:cs typeface="Poppins" panose="00000500000000000000" pitchFamily="2" charset="0"/>
              </a:rPr>
              <a:t>Integrated with API for unified claims processing and authorization workflows</a:t>
            </a:r>
            <a:endParaRPr sz="1600" u="none" strike="noStrike" cap="none">
              <a:solidFill>
                <a:schemeClr val="bg1"/>
              </a:solidFill>
              <a:latin typeface="Poppins" panose="00000500000000000000" pitchFamily="2" charset="0"/>
              <a:ea typeface="Arial"/>
              <a:cs typeface="Poppins" panose="00000500000000000000" pitchFamily="2" charset="0"/>
              <a:sym typeface="Arial"/>
            </a:endParaRPr>
          </a:p>
        </p:txBody>
      </p:sp>
      <p:pic>
        <p:nvPicPr>
          <p:cNvPr id="7" name="1" descr="preencoded.png">
            <a:extLst>
              <a:ext uri="{FF2B5EF4-FFF2-40B4-BE49-F238E27FC236}">
                <a16:creationId xmlns:a16="http://schemas.microsoft.com/office/drawing/2014/main" id="{2BDD20F0-22FE-471F-D7D2-F22F0250ABA8}"/>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64277" y="1862339"/>
            <a:ext cx="2031233" cy="1753001"/>
          </a:xfrm>
          <a:prstGeom prst="rect">
            <a:avLst/>
          </a:prstGeom>
        </p:spPr>
      </p:pic>
      <p:sp>
        <p:nvSpPr>
          <p:cNvPr id="11" name="TextBox 10">
            <a:extLst>
              <a:ext uri="{FF2B5EF4-FFF2-40B4-BE49-F238E27FC236}">
                <a16:creationId xmlns:a16="http://schemas.microsoft.com/office/drawing/2014/main" id="{9E3E2B6D-D815-8224-2A58-6C898384D76E}"/>
              </a:ext>
            </a:extLst>
          </p:cNvPr>
          <p:cNvSpPr txBox="1"/>
          <p:nvPr/>
        </p:nvSpPr>
        <p:spPr>
          <a:xfrm>
            <a:off x="1541202" y="2418853"/>
            <a:ext cx="2277381" cy="105413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defRPr/>
            </a:pPr>
            <a:r>
              <a:rPr kumimoji="0" lang="en-US" altLang="en-US" sz="1600" b="1" i="0" u="none" strike="noStrike" kern="1200" cap="none" spc="0" normalizeH="0" baseline="0" noProof="0">
                <a:ln>
                  <a:noFill/>
                </a:ln>
                <a:solidFill>
                  <a:schemeClr val="bg1"/>
                </a:solidFill>
                <a:effectLst/>
                <a:uLnTx/>
                <a:uFillTx/>
                <a:latin typeface="Poppins" panose="00000500000000000000" pitchFamily="2" charset="0"/>
                <a:cs typeface="Poppins" panose="00000500000000000000" pitchFamily="2" charset="0"/>
              </a:rPr>
              <a:t>Reduce Costs</a:t>
            </a:r>
          </a:p>
          <a:p>
            <a:pPr lvl="0" algn="ctr" eaLnBrk="0" fontAlgn="base" hangingPunct="0">
              <a:spcBef>
                <a:spcPct val="0"/>
              </a:spcBef>
              <a:spcAft>
                <a:spcPct val="0"/>
              </a:spcAft>
              <a:defRPr/>
            </a:pPr>
            <a:endParaRPr lang="en-US" sz="1050">
              <a:solidFill>
                <a:schemeClr val="bg1"/>
              </a:solidFill>
              <a:latin typeface="Poppins" panose="00000500000000000000" pitchFamily="2" charset="0"/>
              <a:cs typeface="Poppins" panose="00000500000000000000" pitchFamily="2" charset="0"/>
            </a:endParaRPr>
          </a:p>
          <a:p>
            <a:pPr lvl="0" algn="ctr" eaLnBrk="0" fontAlgn="base" hangingPunct="0">
              <a:spcBef>
                <a:spcPct val="0"/>
              </a:spcBef>
              <a:spcAft>
                <a:spcPct val="0"/>
              </a:spcAft>
              <a:defRPr/>
            </a:pPr>
            <a:r>
              <a:rPr lang="en-US" sz="1200" err="1">
                <a:solidFill>
                  <a:schemeClr val="bg1"/>
                </a:solidFill>
                <a:latin typeface="Poppins" panose="00000500000000000000" pitchFamily="2" charset="0"/>
                <a:cs typeface="Poppins" panose="00000500000000000000" pitchFamily="2" charset="0"/>
              </a:rPr>
              <a:t>Optimise</a:t>
            </a:r>
            <a:r>
              <a:rPr lang="en-US" sz="1200">
                <a:solidFill>
                  <a:schemeClr val="bg1"/>
                </a:solidFill>
                <a:latin typeface="Poppins" panose="00000500000000000000" pitchFamily="2" charset="0"/>
                <a:cs typeface="Poppins" panose="00000500000000000000" pitchFamily="2" charset="0"/>
              </a:rPr>
              <a:t> formulary and prevent unnecessary prescriptions</a:t>
            </a:r>
            <a:r>
              <a:rPr kumimoji="0" lang="en-US" altLang="en-US" sz="1200" i="0" u="none" strike="noStrike" kern="1200" cap="none" spc="0" normalizeH="0" baseline="0" noProof="0">
                <a:ln>
                  <a:noFill/>
                </a:ln>
                <a:solidFill>
                  <a:schemeClr val="bg1"/>
                </a:solidFill>
                <a:effectLst/>
                <a:uLnTx/>
                <a:uFillTx/>
                <a:latin typeface="Poppins" panose="00000500000000000000" pitchFamily="2" charset="0"/>
                <a:cs typeface="Poppins" panose="00000500000000000000" pitchFamily="2" charset="0"/>
              </a:rPr>
              <a:t> </a:t>
            </a:r>
          </a:p>
        </p:txBody>
      </p:sp>
      <p:sp>
        <p:nvSpPr>
          <p:cNvPr id="13" name="TextBox 12">
            <a:extLst>
              <a:ext uri="{FF2B5EF4-FFF2-40B4-BE49-F238E27FC236}">
                <a16:creationId xmlns:a16="http://schemas.microsoft.com/office/drawing/2014/main" id="{1A2233DA-EDAE-1BC2-E1D2-3962551FB325}"/>
              </a:ext>
            </a:extLst>
          </p:cNvPr>
          <p:cNvSpPr txBox="1"/>
          <p:nvPr/>
        </p:nvSpPr>
        <p:spPr>
          <a:xfrm>
            <a:off x="1916441" y="1860007"/>
            <a:ext cx="1513573" cy="584775"/>
          </a:xfrm>
          <a:prstGeom prst="rect">
            <a:avLst/>
          </a:prstGeom>
          <a:noFill/>
        </p:spPr>
        <p:txBody>
          <a:bodyPr wrap="square">
            <a:spAutoFit/>
          </a:bodyPr>
          <a:lstStyle/>
          <a:p>
            <a:pPr marL="0" marR="0" lvl="0" indent="0" algn="ctr" defTabSz="914400" rtl="0" eaLnBrk="0" fontAlgn="base" latinLnBrk="0" hangingPunct="0">
              <a:lnSpc>
                <a:spcPct val="100000"/>
              </a:lnSpc>
              <a:spcBef>
                <a:spcPct val="0"/>
              </a:spcBef>
              <a:spcAft>
                <a:spcPct val="0"/>
              </a:spcAft>
              <a:buClrTx/>
              <a:buSzTx/>
              <a:tabLst/>
              <a:defRPr/>
            </a:pPr>
            <a:r>
              <a:rPr kumimoji="0" lang="en-US" altLang="en-US" sz="3200" b="0" i="0" u="none" strike="noStrike" kern="1200" cap="none" spc="0" normalizeH="0" baseline="0" noProof="0">
                <a:ln>
                  <a:noFill/>
                </a:ln>
                <a:solidFill>
                  <a:prstClr val="black"/>
                </a:solidFill>
                <a:effectLst/>
                <a:uLnTx/>
                <a:uFillTx/>
                <a:latin typeface="Arial" panose="020B0604020202020204" pitchFamily="34" charset="0"/>
                <a:ea typeface="+mn-ea"/>
                <a:cs typeface="+mn-cs"/>
              </a:rPr>
              <a:t>💰</a:t>
            </a:r>
          </a:p>
        </p:txBody>
      </p:sp>
      <p:pic>
        <p:nvPicPr>
          <p:cNvPr id="14" name="1" descr="preencoded.png">
            <a:extLst>
              <a:ext uri="{FF2B5EF4-FFF2-40B4-BE49-F238E27FC236}">
                <a16:creationId xmlns:a16="http://schemas.microsoft.com/office/drawing/2014/main" id="{EE034E8E-C2AE-3F21-5890-6092DFAA13AC}"/>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4675816" y="1860007"/>
            <a:ext cx="2031233" cy="1753001"/>
          </a:xfrm>
          <a:prstGeom prst="rect">
            <a:avLst/>
          </a:prstGeom>
        </p:spPr>
      </p:pic>
      <p:sp>
        <p:nvSpPr>
          <p:cNvPr id="16" name="TextBox 15">
            <a:extLst>
              <a:ext uri="{FF2B5EF4-FFF2-40B4-BE49-F238E27FC236}">
                <a16:creationId xmlns:a16="http://schemas.microsoft.com/office/drawing/2014/main" id="{6EDE9B87-A87E-7A00-DEB3-7337A696EF43}"/>
              </a:ext>
            </a:extLst>
          </p:cNvPr>
          <p:cNvSpPr txBox="1"/>
          <p:nvPr/>
        </p:nvSpPr>
        <p:spPr>
          <a:xfrm>
            <a:off x="4675816" y="2418853"/>
            <a:ext cx="2031233" cy="1138773"/>
          </a:xfrm>
          <a:prstGeom prst="rect">
            <a:avLst/>
          </a:prstGeom>
          <a:noFill/>
        </p:spPr>
        <p:txBody>
          <a:bodyPr wrap="square">
            <a:spAutoFit/>
          </a:bodyPr>
          <a:lstStyle/>
          <a:p>
            <a:pPr lvl="0" algn="ctr" eaLnBrk="0" fontAlgn="base" hangingPunct="0">
              <a:spcBef>
                <a:spcPct val="0"/>
              </a:spcBef>
              <a:spcAft>
                <a:spcPct val="0"/>
              </a:spcAft>
            </a:pPr>
            <a:r>
              <a:rPr lang="en-US" altLang="en-US" sz="1600" b="1">
                <a:solidFill>
                  <a:schemeClr val="bg1"/>
                </a:solidFill>
                <a:latin typeface="Poppins" panose="00000500000000000000" pitchFamily="2" charset="0"/>
                <a:cs typeface="Poppins" panose="00000500000000000000" pitchFamily="2" charset="0"/>
              </a:rPr>
              <a:t>Improve Safety</a:t>
            </a:r>
          </a:p>
          <a:p>
            <a:pPr lvl="0" algn="ctr" eaLnBrk="0" fontAlgn="base" hangingPunct="0">
              <a:spcBef>
                <a:spcPct val="0"/>
              </a:spcBef>
              <a:spcAft>
                <a:spcPct val="0"/>
              </a:spcAft>
            </a:pPr>
            <a:endParaRPr lang="en-US" altLang="en-US" sz="1600">
              <a:solidFill>
                <a:schemeClr val="bg1"/>
              </a:solidFill>
              <a:latin typeface="Poppins" panose="00000500000000000000" pitchFamily="2" charset="0"/>
              <a:cs typeface="Poppins" panose="00000500000000000000" pitchFamily="2" charset="0"/>
            </a:endParaRPr>
          </a:p>
          <a:p>
            <a:pPr lvl="0" algn="ctr" eaLnBrk="0" fontAlgn="base" hangingPunct="0">
              <a:spcBef>
                <a:spcPct val="0"/>
              </a:spcBef>
              <a:spcAft>
                <a:spcPct val="0"/>
              </a:spcAft>
            </a:pPr>
            <a:r>
              <a:rPr lang="en-US" altLang="en-US" sz="1200">
                <a:solidFill>
                  <a:schemeClr val="bg1"/>
                </a:solidFill>
                <a:latin typeface="Poppins" panose="00000500000000000000" pitchFamily="2" charset="0"/>
                <a:cs typeface="Poppins" panose="00000500000000000000" pitchFamily="2" charset="0"/>
              </a:rPr>
              <a:t>Real-time rejection to prevent adverse drug events </a:t>
            </a:r>
          </a:p>
        </p:txBody>
      </p:sp>
      <p:sp>
        <p:nvSpPr>
          <p:cNvPr id="18" name="TextBox 17">
            <a:extLst>
              <a:ext uri="{FF2B5EF4-FFF2-40B4-BE49-F238E27FC236}">
                <a16:creationId xmlns:a16="http://schemas.microsoft.com/office/drawing/2014/main" id="{FEF8C6DF-9941-CC1F-2E7E-E0FF73E4BE10}"/>
              </a:ext>
            </a:extLst>
          </p:cNvPr>
          <p:cNvSpPr txBox="1"/>
          <p:nvPr/>
        </p:nvSpPr>
        <p:spPr>
          <a:xfrm>
            <a:off x="5007470" y="1860007"/>
            <a:ext cx="1398070" cy="584775"/>
          </a:xfrm>
          <a:prstGeom prst="rect">
            <a:avLst/>
          </a:prstGeom>
          <a:noFill/>
        </p:spPr>
        <p:txBody>
          <a:bodyPr wrap="square">
            <a:spAutoFit/>
          </a:bodyPr>
          <a:lstStyle/>
          <a:p>
            <a:pPr lvl="0" algn="ctr" eaLnBrk="0" fontAlgn="base" hangingPunct="0">
              <a:spcBef>
                <a:spcPct val="0"/>
              </a:spcBef>
              <a:spcAft>
                <a:spcPct val="0"/>
              </a:spcAft>
            </a:pPr>
            <a:r>
              <a:rPr lang="en-US" altLang="en-US" sz="3200">
                <a:solidFill>
                  <a:schemeClr val="tx1"/>
                </a:solidFill>
                <a:latin typeface="Arial" panose="020B0604020202020204" pitchFamily="34" charset="0"/>
              </a:rPr>
              <a:t>🛡️</a:t>
            </a:r>
          </a:p>
        </p:txBody>
      </p:sp>
      <p:pic>
        <p:nvPicPr>
          <p:cNvPr id="19" name="1" descr="preencoded.png">
            <a:extLst>
              <a:ext uri="{FF2B5EF4-FFF2-40B4-BE49-F238E27FC236}">
                <a16:creationId xmlns:a16="http://schemas.microsoft.com/office/drawing/2014/main" id="{A8D0B248-EB6E-75AC-9D96-13C2F2A4B1D7}"/>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8192612" y="1833111"/>
            <a:ext cx="2031233" cy="1753001"/>
          </a:xfrm>
          <a:prstGeom prst="rect">
            <a:avLst/>
          </a:prstGeom>
        </p:spPr>
      </p:pic>
      <p:sp>
        <p:nvSpPr>
          <p:cNvPr id="21" name="TextBox 20">
            <a:extLst>
              <a:ext uri="{FF2B5EF4-FFF2-40B4-BE49-F238E27FC236}">
                <a16:creationId xmlns:a16="http://schemas.microsoft.com/office/drawing/2014/main" id="{0BAB5F5D-B7FC-B3B9-0D89-606DF2EA6B14}"/>
              </a:ext>
            </a:extLst>
          </p:cNvPr>
          <p:cNvSpPr txBox="1"/>
          <p:nvPr/>
        </p:nvSpPr>
        <p:spPr>
          <a:xfrm>
            <a:off x="8134970" y="2361144"/>
            <a:ext cx="2146515" cy="1169551"/>
          </a:xfrm>
          <a:prstGeom prst="rect">
            <a:avLst/>
          </a:prstGeom>
          <a:noFill/>
        </p:spPr>
        <p:txBody>
          <a:bodyPr wrap="square">
            <a:spAutoFit/>
          </a:bodyPr>
          <a:lstStyle/>
          <a:p>
            <a:pPr algn="ctr"/>
            <a:r>
              <a:rPr lang="en-US" sz="1600" b="1">
                <a:solidFill>
                  <a:schemeClr val="bg1"/>
                </a:solidFill>
                <a:latin typeface="Poppins" panose="00000500000000000000" pitchFamily="2" charset="0"/>
                <a:cs typeface="Poppins" panose="00000500000000000000" pitchFamily="2" charset="0"/>
              </a:rPr>
              <a:t>Better Outcomes</a:t>
            </a:r>
          </a:p>
          <a:p>
            <a:pPr algn="ctr"/>
            <a:endParaRPr lang="en-US">
              <a:solidFill>
                <a:schemeClr val="bg1"/>
              </a:solidFill>
              <a:latin typeface="Poppins" panose="00000500000000000000" pitchFamily="2" charset="0"/>
              <a:cs typeface="Poppins" panose="00000500000000000000" pitchFamily="2" charset="0"/>
            </a:endParaRPr>
          </a:p>
          <a:p>
            <a:pPr algn="ctr"/>
            <a:r>
              <a:rPr lang="en-US" sz="1200">
                <a:solidFill>
                  <a:schemeClr val="bg1"/>
                </a:solidFill>
                <a:latin typeface="Poppins" panose="00000500000000000000" pitchFamily="2" charset="0"/>
                <a:cs typeface="Poppins" panose="00000500000000000000" pitchFamily="2" charset="0"/>
              </a:rPr>
              <a:t>Evidence-based protocols improve care quality </a:t>
            </a:r>
          </a:p>
        </p:txBody>
      </p:sp>
      <p:sp>
        <p:nvSpPr>
          <p:cNvPr id="23" name="TextBox 22">
            <a:extLst>
              <a:ext uri="{FF2B5EF4-FFF2-40B4-BE49-F238E27FC236}">
                <a16:creationId xmlns:a16="http://schemas.microsoft.com/office/drawing/2014/main" id="{F9F2E3F9-C68D-4B21-34C7-F1840C0F5530}"/>
              </a:ext>
            </a:extLst>
          </p:cNvPr>
          <p:cNvSpPr txBox="1"/>
          <p:nvPr/>
        </p:nvSpPr>
        <p:spPr>
          <a:xfrm>
            <a:off x="8510395" y="1882344"/>
            <a:ext cx="1395663" cy="523220"/>
          </a:xfrm>
          <a:prstGeom prst="rect">
            <a:avLst/>
          </a:prstGeom>
          <a:noFill/>
        </p:spPr>
        <p:txBody>
          <a:bodyPr wrap="square">
            <a:spAutoFit/>
          </a:bodyPr>
          <a:lstStyle/>
          <a:p>
            <a:pPr algn="ctr"/>
            <a:r>
              <a:rPr lang="en-US" sz="2800"/>
              <a:t>📈</a:t>
            </a:r>
          </a:p>
        </p:txBody>
      </p:sp>
    </p:spTree>
    <p:extLst>
      <p:ext uri="{BB962C8B-B14F-4D97-AF65-F5344CB8AC3E}">
        <p14:creationId xmlns:p14="http://schemas.microsoft.com/office/powerpoint/2010/main" val="2009273355"/>
      </p:ext>
    </p:extLst>
  </p:cSld>
  <p:clrMapOvr>
    <a:masterClrMapping/>
  </p:clrMapOvr>
  <p:transition spd="slow">
    <p:push dir="u"/>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CFA873-4864-4A9E-D8AA-BD07CDCA4041}"/>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9EF671A-8AEB-249C-2E2F-2243DCC2B525}"/>
              </a:ext>
            </a:extLst>
          </p:cNvPr>
          <p:cNvSpPr txBox="1"/>
          <p:nvPr/>
        </p:nvSpPr>
        <p:spPr>
          <a:xfrm>
            <a:off x="0" y="165559"/>
            <a:ext cx="5067413" cy="584775"/>
          </a:xfrm>
          <a:prstGeom prst="rect">
            <a:avLst/>
          </a:prstGeom>
          <a:noFill/>
        </p:spPr>
        <p:txBody>
          <a:bodyPr wrap="none" rtlCol="0">
            <a:spAutoFit/>
          </a:bodyPr>
          <a:lstStyle/>
          <a:p>
            <a:r>
              <a:rPr lang="en-US" sz="3200" b="1" dirty="0">
                <a:solidFill>
                  <a:schemeClr val="bg1"/>
                </a:solidFill>
                <a:latin typeface="Poppins" pitchFamily="2" charset="77"/>
                <a:ea typeface="Inter SemiBold" panose="020B0502030000000004" pitchFamily="34" charset="0"/>
                <a:cs typeface="Poppins" pitchFamily="2" charset="77"/>
              </a:rPr>
              <a:t>Ai</a:t>
            </a:r>
            <a:r>
              <a:rPr lang="en-GB" sz="3200" b="1" dirty="0">
                <a:solidFill>
                  <a:schemeClr val="bg1"/>
                </a:solidFill>
                <a:latin typeface="Poppins" pitchFamily="2" charset="77"/>
                <a:ea typeface="Inter SemiBold" panose="020B0502030000000004" pitchFamily="34" charset="0"/>
                <a:cs typeface="Poppins" pitchFamily="2" charset="77"/>
              </a:rPr>
              <a:t>P</a:t>
            </a:r>
            <a:r>
              <a:rPr lang="en-US" sz="3200" b="1" dirty="0" err="1">
                <a:solidFill>
                  <a:schemeClr val="bg1"/>
                </a:solidFill>
                <a:latin typeface="Poppins" pitchFamily="2" charset="77"/>
                <a:ea typeface="Inter SemiBold" panose="020B0502030000000004" pitchFamily="34" charset="0"/>
                <a:cs typeface="Poppins" pitchFamily="2" charset="77"/>
              </a:rPr>
              <a:t>harma</a:t>
            </a:r>
            <a:r>
              <a:rPr lang="en-US" sz="3200" b="1" dirty="0">
                <a:solidFill>
                  <a:schemeClr val="bg1"/>
                </a:solidFill>
                <a:latin typeface="Poppins" pitchFamily="2" charset="77"/>
                <a:ea typeface="Inter SemiBold" panose="020B0502030000000004" pitchFamily="34" charset="0"/>
                <a:cs typeface="Poppins" pitchFamily="2" charset="77"/>
              </a:rPr>
              <a:t> Architecture</a:t>
            </a:r>
          </a:p>
        </p:txBody>
      </p:sp>
      <p:sp>
        <p:nvSpPr>
          <p:cNvPr id="2" name="Rectangle: Rounded Corners 22">
            <a:extLst>
              <a:ext uri="{FF2B5EF4-FFF2-40B4-BE49-F238E27FC236}">
                <a16:creationId xmlns:a16="http://schemas.microsoft.com/office/drawing/2014/main" id="{E6EAD5F4-FD13-B921-B681-7028734DAACD}"/>
              </a:ext>
            </a:extLst>
          </p:cNvPr>
          <p:cNvSpPr/>
          <p:nvPr/>
        </p:nvSpPr>
        <p:spPr>
          <a:xfrm>
            <a:off x="958646" y="1770717"/>
            <a:ext cx="4483510" cy="2208940"/>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dirty="0">
              <a:solidFill>
                <a:schemeClr val="bg1"/>
              </a:solidFill>
              <a:latin typeface="Poppins" panose="00000500000000000000" pitchFamily="2" charset="0"/>
              <a:cs typeface="Poppins" panose="00000500000000000000" pitchFamily="2" charset="0"/>
            </a:endParaRPr>
          </a:p>
          <a:p>
            <a:pPr algn="ctr"/>
            <a:endParaRPr lang="en-US" sz="1100" dirty="0">
              <a:solidFill>
                <a:schemeClr val="bg1"/>
              </a:solidFill>
              <a:latin typeface="Poppins" panose="00000500000000000000" pitchFamily="2" charset="0"/>
              <a:cs typeface="Poppins" panose="00000500000000000000" pitchFamily="2" charset="0"/>
            </a:endParaRPr>
          </a:p>
          <a:p>
            <a:r>
              <a:rPr lang="en-US" sz="1400" dirty="0" err="1">
                <a:solidFill>
                  <a:schemeClr val="bg1"/>
                </a:solidFill>
                <a:latin typeface="Poppins" panose="00000500000000000000" pitchFamily="2" charset="0"/>
                <a:cs typeface="Poppins" panose="00000500000000000000" pitchFamily="2" charset="0"/>
              </a:rPr>
              <a:t>AiPharma</a:t>
            </a:r>
            <a:r>
              <a:rPr lang="en-US" sz="1400" dirty="0">
                <a:solidFill>
                  <a:schemeClr val="bg1"/>
                </a:solidFill>
                <a:latin typeface="Poppins" panose="00000500000000000000" pitchFamily="2" charset="0"/>
                <a:cs typeface="Poppins" panose="00000500000000000000" pitchFamily="2" charset="0"/>
              </a:rPr>
              <a:t> is designed to match Saudi framework for pharmacy submissions on three different areas for e-prescriptions, approval and claims</a:t>
            </a:r>
          </a:p>
        </p:txBody>
      </p:sp>
      <p:sp>
        <p:nvSpPr>
          <p:cNvPr id="5" name="TextBox 4">
            <a:extLst>
              <a:ext uri="{FF2B5EF4-FFF2-40B4-BE49-F238E27FC236}">
                <a16:creationId xmlns:a16="http://schemas.microsoft.com/office/drawing/2014/main" id="{DF09E2E6-9D59-EAB0-2FAA-87F160298480}"/>
              </a:ext>
            </a:extLst>
          </p:cNvPr>
          <p:cNvSpPr txBox="1"/>
          <p:nvPr/>
        </p:nvSpPr>
        <p:spPr>
          <a:xfrm>
            <a:off x="1275315" y="1898345"/>
            <a:ext cx="3890461" cy="338554"/>
          </a:xfrm>
          <a:prstGeom prst="rect">
            <a:avLst/>
          </a:prstGeom>
          <a:noFill/>
        </p:spPr>
        <p:txBody>
          <a:bodyPr wrap="square">
            <a:spAutoFit/>
          </a:bodyPr>
          <a:lstStyle/>
          <a:p>
            <a:pPr algn="ctr"/>
            <a:r>
              <a:rPr lang="en-US" sz="1600" b="1" dirty="0">
                <a:solidFill>
                  <a:schemeClr val="bg1"/>
                </a:solidFill>
                <a:latin typeface="Poppins" panose="00000500000000000000" pitchFamily="2" charset="0"/>
                <a:cs typeface="Poppins" panose="00000500000000000000" pitchFamily="2" charset="0"/>
              </a:rPr>
              <a:t>Saudi Market Dynamic</a:t>
            </a:r>
          </a:p>
        </p:txBody>
      </p:sp>
      <p:sp>
        <p:nvSpPr>
          <p:cNvPr id="6" name="Rectangle: Rounded Corners 22">
            <a:extLst>
              <a:ext uri="{FF2B5EF4-FFF2-40B4-BE49-F238E27FC236}">
                <a16:creationId xmlns:a16="http://schemas.microsoft.com/office/drawing/2014/main" id="{E3A2C90C-B84B-35DF-BDB1-E30828A48C57}"/>
              </a:ext>
            </a:extLst>
          </p:cNvPr>
          <p:cNvSpPr/>
          <p:nvPr/>
        </p:nvSpPr>
        <p:spPr>
          <a:xfrm>
            <a:off x="5786279" y="1790385"/>
            <a:ext cx="4483510" cy="2208940"/>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dirty="0">
              <a:solidFill>
                <a:schemeClr val="bg1"/>
              </a:solidFill>
              <a:latin typeface="Poppins" panose="00000500000000000000" pitchFamily="2" charset="0"/>
              <a:cs typeface="Poppins" panose="00000500000000000000" pitchFamily="2" charset="0"/>
            </a:endParaRPr>
          </a:p>
          <a:p>
            <a:pPr algn="ctr"/>
            <a:endParaRPr lang="en-US" sz="1100" dirty="0">
              <a:solidFill>
                <a:schemeClr val="bg1"/>
              </a:solidFill>
              <a:latin typeface="Poppins" panose="00000500000000000000" pitchFamily="2" charset="0"/>
              <a:cs typeface="Poppins" panose="00000500000000000000" pitchFamily="2" charset="0"/>
            </a:endParaRPr>
          </a:p>
          <a:p>
            <a:r>
              <a:rPr lang="en-US" sz="1400" dirty="0">
                <a:solidFill>
                  <a:schemeClr val="bg1"/>
                </a:solidFill>
                <a:latin typeface="Poppins" panose="00000500000000000000" pitchFamily="2" charset="0"/>
                <a:cs typeface="Poppins" panose="00000500000000000000" pitchFamily="2" charset="0"/>
              </a:rPr>
              <a:t>Processing mechanism is harmonized and built based on different stages of submission (e.g. Refill too soon layer depends on approval info for claims adjudication)</a:t>
            </a:r>
          </a:p>
        </p:txBody>
      </p:sp>
      <p:sp>
        <p:nvSpPr>
          <p:cNvPr id="7" name="TextBox 6">
            <a:extLst>
              <a:ext uri="{FF2B5EF4-FFF2-40B4-BE49-F238E27FC236}">
                <a16:creationId xmlns:a16="http://schemas.microsoft.com/office/drawing/2014/main" id="{3A8AF845-7B02-31FE-EE72-971CC3AA7C90}"/>
              </a:ext>
            </a:extLst>
          </p:cNvPr>
          <p:cNvSpPr txBox="1"/>
          <p:nvPr/>
        </p:nvSpPr>
        <p:spPr>
          <a:xfrm>
            <a:off x="6064203" y="1898345"/>
            <a:ext cx="3890461" cy="338554"/>
          </a:xfrm>
          <a:prstGeom prst="rect">
            <a:avLst/>
          </a:prstGeom>
          <a:noFill/>
        </p:spPr>
        <p:txBody>
          <a:bodyPr wrap="square">
            <a:spAutoFit/>
          </a:bodyPr>
          <a:lstStyle/>
          <a:p>
            <a:pPr algn="ctr"/>
            <a:r>
              <a:rPr lang="en-US" sz="1600" b="1" dirty="0">
                <a:solidFill>
                  <a:schemeClr val="bg1"/>
                </a:solidFill>
                <a:latin typeface="Poppins" panose="00000500000000000000" pitchFamily="2" charset="0"/>
                <a:cs typeface="Poppins" panose="00000500000000000000" pitchFamily="2" charset="0"/>
              </a:rPr>
              <a:t>Architecture Dependency</a:t>
            </a:r>
          </a:p>
        </p:txBody>
      </p:sp>
      <p:sp>
        <p:nvSpPr>
          <p:cNvPr id="8" name="Rectangle: Rounded Corners 22">
            <a:extLst>
              <a:ext uri="{FF2B5EF4-FFF2-40B4-BE49-F238E27FC236}">
                <a16:creationId xmlns:a16="http://schemas.microsoft.com/office/drawing/2014/main" id="{E8A005B9-D444-6DB1-7A3D-F4262005E608}"/>
              </a:ext>
            </a:extLst>
          </p:cNvPr>
          <p:cNvSpPr/>
          <p:nvPr/>
        </p:nvSpPr>
        <p:spPr>
          <a:xfrm>
            <a:off x="958647" y="4348066"/>
            <a:ext cx="9311142" cy="158620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dirty="0">
              <a:solidFill>
                <a:schemeClr val="bg1"/>
              </a:solidFill>
              <a:latin typeface="Poppins" panose="00000500000000000000" pitchFamily="2" charset="0"/>
              <a:cs typeface="Poppins" panose="00000500000000000000" pitchFamily="2" charset="0"/>
            </a:endParaRPr>
          </a:p>
          <a:p>
            <a:pPr algn="ctr"/>
            <a:endParaRPr lang="en-US" sz="1100" dirty="0">
              <a:solidFill>
                <a:schemeClr val="bg1"/>
              </a:solidFill>
              <a:latin typeface="Poppins" panose="00000500000000000000" pitchFamily="2" charset="0"/>
              <a:cs typeface="Poppins" panose="00000500000000000000" pitchFamily="2" charset="0"/>
            </a:endParaRPr>
          </a:p>
          <a:p>
            <a:r>
              <a:rPr lang="en-US" sz="1400" dirty="0" err="1">
                <a:solidFill>
                  <a:schemeClr val="bg1"/>
                </a:solidFill>
                <a:latin typeface="Poppins" panose="00000500000000000000" pitchFamily="2" charset="0"/>
                <a:cs typeface="Poppins" panose="00000500000000000000" pitchFamily="2" charset="0"/>
              </a:rPr>
              <a:t>AiPharma</a:t>
            </a:r>
            <a:r>
              <a:rPr lang="en-US" sz="1400" dirty="0">
                <a:solidFill>
                  <a:schemeClr val="bg1"/>
                </a:solidFill>
                <a:latin typeface="Poppins" panose="00000500000000000000" pitchFamily="2" charset="0"/>
                <a:cs typeface="Poppins" panose="00000500000000000000" pitchFamily="2" charset="0"/>
              </a:rPr>
              <a:t> enables payers and end-users to overwrite and cancellation engine decisions through additional API endpoints for more comprehensive communication between payers and PBM engine matching  Saudi framework for pharmacy submissions</a:t>
            </a:r>
          </a:p>
        </p:txBody>
      </p:sp>
      <p:sp>
        <p:nvSpPr>
          <p:cNvPr id="9" name="TextBox 8">
            <a:extLst>
              <a:ext uri="{FF2B5EF4-FFF2-40B4-BE49-F238E27FC236}">
                <a16:creationId xmlns:a16="http://schemas.microsoft.com/office/drawing/2014/main" id="{6A0FC92C-C5C4-2EE3-8465-24844FAF1311}"/>
              </a:ext>
            </a:extLst>
          </p:cNvPr>
          <p:cNvSpPr txBox="1"/>
          <p:nvPr/>
        </p:nvSpPr>
        <p:spPr>
          <a:xfrm>
            <a:off x="3496925" y="4372707"/>
            <a:ext cx="3890461" cy="338554"/>
          </a:xfrm>
          <a:prstGeom prst="rect">
            <a:avLst/>
          </a:prstGeom>
          <a:noFill/>
        </p:spPr>
        <p:txBody>
          <a:bodyPr wrap="square">
            <a:spAutoFit/>
          </a:bodyPr>
          <a:lstStyle/>
          <a:p>
            <a:pPr algn="ctr"/>
            <a:r>
              <a:rPr lang="en-US" sz="1600" b="1" dirty="0">
                <a:solidFill>
                  <a:schemeClr val="bg1"/>
                </a:solidFill>
                <a:latin typeface="Poppins" panose="00000500000000000000" pitchFamily="2" charset="0"/>
                <a:cs typeface="Poppins" panose="00000500000000000000" pitchFamily="2" charset="0"/>
              </a:rPr>
              <a:t>Overwrite Mechanism</a:t>
            </a:r>
          </a:p>
        </p:txBody>
      </p:sp>
    </p:spTree>
    <p:extLst>
      <p:ext uri="{BB962C8B-B14F-4D97-AF65-F5344CB8AC3E}">
        <p14:creationId xmlns:p14="http://schemas.microsoft.com/office/powerpoint/2010/main" val="3809566106"/>
      </p:ext>
    </p:extLst>
  </p:cSld>
  <p:clrMapOvr>
    <a:masterClrMapping/>
  </p:clrMapOvr>
  <p:transition spd="slow">
    <p:push dir="u"/>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884C0-4154-32F1-3801-E8D90EB1FC76}"/>
            </a:ext>
          </a:extLst>
        </p:cNvPr>
        <p:cNvGrpSpPr/>
        <p:nvPr/>
      </p:nvGrpSpPr>
      <p:grpSpPr>
        <a:xfrm>
          <a:off x="0" y="0"/>
          <a:ext cx="0" cy="0"/>
          <a:chOff x="0" y="0"/>
          <a:chExt cx="0" cy="0"/>
        </a:xfrm>
      </p:grpSpPr>
      <p:sp>
        <p:nvSpPr>
          <p:cNvPr id="33" name="TextBox 32">
            <a:extLst>
              <a:ext uri="{FF2B5EF4-FFF2-40B4-BE49-F238E27FC236}">
                <a16:creationId xmlns:a16="http://schemas.microsoft.com/office/drawing/2014/main" id="{069F37B0-E788-32BD-9B08-18A26FFD3D0D}"/>
              </a:ext>
            </a:extLst>
          </p:cNvPr>
          <p:cNvSpPr txBox="1"/>
          <p:nvPr/>
        </p:nvSpPr>
        <p:spPr>
          <a:xfrm>
            <a:off x="0" y="782247"/>
            <a:ext cx="7442857" cy="553998"/>
          </a:xfrm>
          <a:prstGeom prst="rect">
            <a:avLst/>
          </a:prstGeom>
          <a:noFill/>
        </p:spPr>
        <p:txBody>
          <a:bodyPr wrap="square" rtlCol="0">
            <a:spAutoFit/>
          </a:bodyPr>
          <a:lstStyle/>
          <a:p>
            <a:pPr>
              <a:lnSpc>
                <a:spcPts val="1800"/>
              </a:lnSpc>
            </a:pPr>
            <a:r>
              <a:rPr lang="en-US" sz="1600" i="0">
                <a:solidFill>
                  <a:schemeClr val="bg1"/>
                </a:solidFill>
                <a:effectLst/>
                <a:latin typeface="Poppins" pitchFamily="2" charset="77"/>
                <a:ea typeface="Jost" pitchFamily="2" charset="0"/>
                <a:cs typeface="Poppins" pitchFamily="2" charset="77"/>
              </a:rPr>
              <a:t>Transforming pharmacy benefit management from reactive to proactive care.</a:t>
            </a:r>
            <a:endParaRPr lang="en-US" sz="1600">
              <a:solidFill>
                <a:schemeClr val="bg1"/>
              </a:solidFill>
              <a:latin typeface="Poppins" pitchFamily="2" charset="77"/>
              <a:ea typeface="Jost" pitchFamily="2" charset="0"/>
              <a:cs typeface="Poppins" pitchFamily="2" charset="77"/>
            </a:endParaRPr>
          </a:p>
        </p:txBody>
      </p:sp>
      <p:sp>
        <p:nvSpPr>
          <p:cNvPr id="3" name="TextBox 2">
            <a:extLst>
              <a:ext uri="{FF2B5EF4-FFF2-40B4-BE49-F238E27FC236}">
                <a16:creationId xmlns:a16="http://schemas.microsoft.com/office/drawing/2014/main" id="{6C0B9A42-3F53-E8F0-9E3A-A545BD2E45E4}"/>
              </a:ext>
            </a:extLst>
          </p:cNvPr>
          <p:cNvSpPr txBox="1"/>
          <p:nvPr/>
        </p:nvSpPr>
        <p:spPr>
          <a:xfrm>
            <a:off x="0" y="165559"/>
            <a:ext cx="7045518" cy="584775"/>
          </a:xfrm>
          <a:prstGeom prst="rect">
            <a:avLst/>
          </a:prstGeom>
          <a:noFill/>
        </p:spPr>
        <p:txBody>
          <a:bodyPr wrap="none" rtlCol="0">
            <a:spAutoFit/>
          </a:bodyPr>
          <a:lstStyle/>
          <a:p>
            <a:r>
              <a:rPr lang="en-US" sz="3200" b="1">
                <a:solidFill>
                  <a:schemeClr val="bg1"/>
                </a:solidFill>
                <a:latin typeface="Poppins" pitchFamily="2" charset="77"/>
                <a:ea typeface="Inter SemiBold" panose="020B0502030000000004" pitchFamily="34" charset="0"/>
                <a:cs typeface="Poppins" pitchFamily="2" charset="77"/>
              </a:rPr>
              <a:t>What Makes Ai Pharma Different</a:t>
            </a:r>
          </a:p>
        </p:txBody>
      </p:sp>
      <p:sp>
        <p:nvSpPr>
          <p:cNvPr id="4" name="Rectangle: Rounded Corners 3">
            <a:extLst>
              <a:ext uri="{FF2B5EF4-FFF2-40B4-BE49-F238E27FC236}">
                <a16:creationId xmlns:a16="http://schemas.microsoft.com/office/drawing/2014/main" id="{BDF66F9E-A819-2E85-ECBC-B93DB9C8D2A3}"/>
              </a:ext>
            </a:extLst>
          </p:cNvPr>
          <p:cNvSpPr/>
          <p:nvPr/>
        </p:nvSpPr>
        <p:spPr>
          <a:xfrm>
            <a:off x="3171896" y="2396535"/>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+3.1 checks linked to diseases &amp; symptoms to provide clear indication and contraindication rules with explainability based on references</a:t>
            </a:r>
          </a:p>
        </p:txBody>
      </p:sp>
      <p:sp>
        <p:nvSpPr>
          <p:cNvPr id="5" name="Rectangle: Rounded Corners 4">
            <a:extLst>
              <a:ext uri="{FF2B5EF4-FFF2-40B4-BE49-F238E27FC236}">
                <a16:creationId xmlns:a16="http://schemas.microsoft.com/office/drawing/2014/main" id="{4456DB2F-FC27-E7F1-D59B-616C2C57A87A}"/>
              </a:ext>
            </a:extLst>
          </p:cNvPr>
          <p:cNvSpPr/>
          <p:nvPr/>
        </p:nvSpPr>
        <p:spPr>
          <a:xfrm>
            <a:off x="6179012" y="2396535"/>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+1 Million DDI covering even experimental drugs, OTCs, and herbal supplements categorized into major, moderate and minor with explanation of risk</a:t>
            </a:r>
          </a:p>
        </p:txBody>
      </p:sp>
      <p:sp>
        <p:nvSpPr>
          <p:cNvPr id="13" name="TextBox 12">
            <a:extLst>
              <a:ext uri="{FF2B5EF4-FFF2-40B4-BE49-F238E27FC236}">
                <a16:creationId xmlns:a16="http://schemas.microsoft.com/office/drawing/2014/main" id="{051F67C5-2411-CD97-066B-16E8061D7EBF}"/>
              </a:ext>
            </a:extLst>
          </p:cNvPr>
          <p:cNvSpPr txBox="1"/>
          <p:nvPr/>
        </p:nvSpPr>
        <p:spPr>
          <a:xfrm>
            <a:off x="3133657" y="2524163"/>
            <a:ext cx="3281424"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 Drug-Condition Checking</a:t>
            </a:r>
          </a:p>
        </p:txBody>
      </p:sp>
      <p:sp>
        <p:nvSpPr>
          <p:cNvPr id="15" name="TextBox 14">
            <a:extLst>
              <a:ext uri="{FF2B5EF4-FFF2-40B4-BE49-F238E27FC236}">
                <a16:creationId xmlns:a16="http://schemas.microsoft.com/office/drawing/2014/main" id="{70772884-16FC-B3AA-57A0-53C184B5C04E}"/>
              </a:ext>
            </a:extLst>
          </p:cNvPr>
          <p:cNvSpPr txBox="1"/>
          <p:nvPr/>
        </p:nvSpPr>
        <p:spPr>
          <a:xfrm>
            <a:off x="6179012" y="2462608"/>
            <a:ext cx="3048000"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Drug-Drug Interactions</a:t>
            </a:r>
          </a:p>
        </p:txBody>
      </p:sp>
      <p:sp>
        <p:nvSpPr>
          <p:cNvPr id="23" name="Rectangle: Rounded Corners 22">
            <a:extLst>
              <a:ext uri="{FF2B5EF4-FFF2-40B4-BE49-F238E27FC236}">
                <a16:creationId xmlns:a16="http://schemas.microsoft.com/office/drawing/2014/main" id="{C58F42C7-10C2-E252-9B73-E0FFC3FF33FF}"/>
              </a:ext>
            </a:extLst>
          </p:cNvPr>
          <p:cNvSpPr/>
          <p:nvPr/>
        </p:nvSpPr>
        <p:spPr>
          <a:xfrm>
            <a:off x="152297" y="2396535"/>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a:solidFill>
                <a:schemeClr val="bg1"/>
              </a:solidFill>
              <a:latin typeface="Poppins" panose="00000500000000000000" pitchFamily="2" charset="0"/>
              <a:cs typeface="Poppins" panose="00000500000000000000" pitchFamily="2" charset="0"/>
            </a:endParaRPr>
          </a:p>
          <a:p>
            <a:pPr algn="ctr"/>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+81  Thousands drug available in our database and are continually updated to reflect latest FDA information as well as Saudi FDA and CHI</a:t>
            </a:r>
          </a:p>
        </p:txBody>
      </p:sp>
      <p:sp>
        <p:nvSpPr>
          <p:cNvPr id="24" name="TextBox 23">
            <a:extLst>
              <a:ext uri="{FF2B5EF4-FFF2-40B4-BE49-F238E27FC236}">
                <a16:creationId xmlns:a16="http://schemas.microsoft.com/office/drawing/2014/main" id="{87AB6429-1B3F-FD37-00A2-C55C02D8D303}"/>
              </a:ext>
            </a:extLst>
          </p:cNvPr>
          <p:cNvSpPr txBox="1"/>
          <p:nvPr/>
        </p:nvSpPr>
        <p:spPr>
          <a:xfrm>
            <a:off x="190206" y="2524163"/>
            <a:ext cx="2546555"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 Drug Database</a:t>
            </a:r>
          </a:p>
        </p:txBody>
      </p:sp>
      <p:sp>
        <p:nvSpPr>
          <p:cNvPr id="25" name="Rectangle: Rounded Corners 24">
            <a:extLst>
              <a:ext uri="{FF2B5EF4-FFF2-40B4-BE49-F238E27FC236}">
                <a16:creationId xmlns:a16="http://schemas.microsoft.com/office/drawing/2014/main" id="{08F4AB56-25F8-61AE-5080-EC4937926C8C}"/>
              </a:ext>
            </a:extLst>
          </p:cNvPr>
          <p:cNvSpPr/>
          <p:nvPr/>
        </p:nvSpPr>
        <p:spPr>
          <a:xfrm>
            <a:off x="9186128" y="2396535"/>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Ensure safe medication usage during pregnancy by checking FDA pregnancy medication categories across 4 different levels</a:t>
            </a:r>
          </a:p>
        </p:txBody>
      </p:sp>
      <p:sp>
        <p:nvSpPr>
          <p:cNvPr id="26" name="TextBox 25">
            <a:extLst>
              <a:ext uri="{FF2B5EF4-FFF2-40B4-BE49-F238E27FC236}">
                <a16:creationId xmlns:a16="http://schemas.microsoft.com/office/drawing/2014/main" id="{195396C3-D7B2-2519-F95B-82D70B73D74A}"/>
              </a:ext>
            </a:extLst>
          </p:cNvPr>
          <p:cNvSpPr txBox="1"/>
          <p:nvPr/>
        </p:nvSpPr>
        <p:spPr>
          <a:xfrm>
            <a:off x="9186128" y="2508616"/>
            <a:ext cx="2364473"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 Pregnancy Safety</a:t>
            </a:r>
          </a:p>
        </p:txBody>
      </p:sp>
      <p:sp>
        <p:nvSpPr>
          <p:cNvPr id="29" name="Rectangle: Rounded Corners 28">
            <a:extLst>
              <a:ext uri="{FF2B5EF4-FFF2-40B4-BE49-F238E27FC236}">
                <a16:creationId xmlns:a16="http://schemas.microsoft.com/office/drawing/2014/main" id="{A48CDA71-FACB-F58A-48D0-9535A96955D7}"/>
              </a:ext>
            </a:extLst>
          </p:cNvPr>
          <p:cNvSpPr/>
          <p:nvPr/>
        </p:nvSpPr>
        <p:spPr>
          <a:xfrm>
            <a:off x="111266" y="4605769"/>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Provide Blackbox warnings linked to gender, age, and co-morbidities with references from FDA</a:t>
            </a:r>
          </a:p>
        </p:txBody>
      </p:sp>
      <p:sp>
        <p:nvSpPr>
          <p:cNvPr id="30" name="TextBox 29">
            <a:extLst>
              <a:ext uri="{FF2B5EF4-FFF2-40B4-BE49-F238E27FC236}">
                <a16:creationId xmlns:a16="http://schemas.microsoft.com/office/drawing/2014/main" id="{58CB6DA7-C22B-0691-8984-916C0650034B}"/>
              </a:ext>
            </a:extLst>
          </p:cNvPr>
          <p:cNvSpPr txBox="1"/>
          <p:nvPr/>
        </p:nvSpPr>
        <p:spPr>
          <a:xfrm>
            <a:off x="111266" y="4751770"/>
            <a:ext cx="2635045"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Black Box Warnings</a:t>
            </a:r>
          </a:p>
        </p:txBody>
      </p:sp>
      <p:sp>
        <p:nvSpPr>
          <p:cNvPr id="31" name="Rectangle: Rounded Corners 30">
            <a:extLst>
              <a:ext uri="{FF2B5EF4-FFF2-40B4-BE49-F238E27FC236}">
                <a16:creationId xmlns:a16="http://schemas.microsoft.com/office/drawing/2014/main" id="{CD71EABB-4BA7-40C6-13A4-E7D3F7068A56}"/>
              </a:ext>
            </a:extLst>
          </p:cNvPr>
          <p:cNvSpPr/>
          <p:nvPr/>
        </p:nvSpPr>
        <p:spPr>
          <a:xfrm>
            <a:off x="3133657" y="4605769"/>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Check for duplicate medications ,special logics for antibiotics (usage on local sites and children). Also, it checks the medical device versus conditions and procedures</a:t>
            </a:r>
          </a:p>
        </p:txBody>
      </p:sp>
      <p:sp>
        <p:nvSpPr>
          <p:cNvPr id="32" name="TextBox 31">
            <a:extLst>
              <a:ext uri="{FF2B5EF4-FFF2-40B4-BE49-F238E27FC236}">
                <a16:creationId xmlns:a16="http://schemas.microsoft.com/office/drawing/2014/main" id="{DB6FC10D-E406-A5FC-C292-E17479B54DD8}"/>
              </a:ext>
            </a:extLst>
          </p:cNvPr>
          <p:cNvSpPr txBox="1"/>
          <p:nvPr/>
        </p:nvSpPr>
        <p:spPr>
          <a:xfrm>
            <a:off x="3214402" y="4716724"/>
            <a:ext cx="2546555"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 Medical Utilization</a:t>
            </a:r>
          </a:p>
        </p:txBody>
      </p:sp>
      <p:sp>
        <p:nvSpPr>
          <p:cNvPr id="34" name="Rectangle: Rounded Corners 33">
            <a:extLst>
              <a:ext uri="{FF2B5EF4-FFF2-40B4-BE49-F238E27FC236}">
                <a16:creationId xmlns:a16="http://schemas.microsoft.com/office/drawing/2014/main" id="{9DB66AA3-7BBA-36F1-9A03-E86210390841}"/>
              </a:ext>
            </a:extLst>
          </p:cNvPr>
          <p:cNvSpPr/>
          <p:nvPr/>
        </p:nvSpPr>
        <p:spPr>
          <a:xfrm>
            <a:off x="6179010" y="4605769"/>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Provide guidance in the use of multiple medications within the same therapeutic class or a across related classes to prevent unnecessary polypharmacy</a:t>
            </a:r>
          </a:p>
        </p:txBody>
      </p:sp>
      <p:sp>
        <p:nvSpPr>
          <p:cNvPr id="35" name="Rectangle: Rounded Corners 34">
            <a:extLst>
              <a:ext uri="{FF2B5EF4-FFF2-40B4-BE49-F238E27FC236}">
                <a16:creationId xmlns:a16="http://schemas.microsoft.com/office/drawing/2014/main" id="{DB23620B-1E02-8246-6512-815F1C046030}"/>
              </a:ext>
            </a:extLst>
          </p:cNvPr>
          <p:cNvSpPr/>
          <p:nvPr/>
        </p:nvSpPr>
        <p:spPr>
          <a:xfrm>
            <a:off x="9186128" y="4605769"/>
            <a:ext cx="2920790"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Optimize treatment safety and efficacy by medications that should be avoided or used cautiously based on patient-specific factors</a:t>
            </a:r>
          </a:p>
        </p:txBody>
      </p:sp>
      <p:sp>
        <p:nvSpPr>
          <p:cNvPr id="36" name="TextBox 35">
            <a:extLst>
              <a:ext uri="{FF2B5EF4-FFF2-40B4-BE49-F238E27FC236}">
                <a16:creationId xmlns:a16="http://schemas.microsoft.com/office/drawing/2014/main" id="{A82AF88B-8327-46D5-3002-9A648489FB1C}"/>
              </a:ext>
            </a:extLst>
          </p:cNvPr>
          <p:cNvSpPr txBox="1"/>
          <p:nvPr/>
        </p:nvSpPr>
        <p:spPr>
          <a:xfrm>
            <a:off x="6257903" y="4718007"/>
            <a:ext cx="2776959"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Therapeutic Duplication</a:t>
            </a:r>
          </a:p>
        </p:txBody>
      </p:sp>
      <p:sp>
        <p:nvSpPr>
          <p:cNvPr id="37" name="TextBox 36">
            <a:extLst>
              <a:ext uri="{FF2B5EF4-FFF2-40B4-BE49-F238E27FC236}">
                <a16:creationId xmlns:a16="http://schemas.microsoft.com/office/drawing/2014/main" id="{ABD50EF7-FF9C-A63A-1F9C-69B6FE1E4A2F}"/>
              </a:ext>
            </a:extLst>
          </p:cNvPr>
          <p:cNvSpPr txBox="1"/>
          <p:nvPr/>
        </p:nvSpPr>
        <p:spPr>
          <a:xfrm>
            <a:off x="9186128" y="4716724"/>
            <a:ext cx="3390854"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Drug-Disease Contraindications</a:t>
            </a:r>
          </a:p>
        </p:txBody>
      </p:sp>
    </p:spTree>
    <p:extLst>
      <p:ext uri="{BB962C8B-B14F-4D97-AF65-F5344CB8AC3E}">
        <p14:creationId xmlns:p14="http://schemas.microsoft.com/office/powerpoint/2010/main" val="906890734"/>
      </p:ext>
    </p:extLst>
  </p:cSld>
  <p:clrMapOvr>
    <a:masterClrMapping/>
  </p:clrMapOvr>
  <p:transition spd="slow">
    <p:push dir="u"/>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095CE6-0488-7B59-9BA2-0CC40B57DBD3}"/>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3016D967-DB2F-CAC5-4FDA-76032036D4E3}"/>
              </a:ext>
            </a:extLst>
          </p:cNvPr>
          <p:cNvSpPr/>
          <p:nvPr/>
        </p:nvSpPr>
        <p:spPr>
          <a:xfrm>
            <a:off x="93407" y="2342320"/>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Identify potential cross-reactivity between prescribed medication and documented allergens in the medical records (if available using NLP) </a:t>
            </a:r>
          </a:p>
        </p:txBody>
      </p:sp>
      <p:sp>
        <p:nvSpPr>
          <p:cNvPr id="6" name="Rectangle: Rounded Corners 5">
            <a:extLst>
              <a:ext uri="{FF2B5EF4-FFF2-40B4-BE49-F238E27FC236}">
                <a16:creationId xmlns:a16="http://schemas.microsoft.com/office/drawing/2014/main" id="{A9754E9F-3AFD-5DF4-BBCF-D0C3054996C0}"/>
              </a:ext>
            </a:extLst>
          </p:cNvPr>
          <p:cNvSpPr/>
          <p:nvPr/>
        </p:nvSpPr>
        <p:spPr>
          <a:xfrm>
            <a:off x="3126286" y="2342320"/>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Enforce limits on total daily drug dose (DDD) for medications and ensure that submitted quantity aligns with expected days of the supply</a:t>
            </a:r>
          </a:p>
        </p:txBody>
      </p:sp>
      <p:sp>
        <p:nvSpPr>
          <p:cNvPr id="8" name="Rectangle: Rounded Corners 7">
            <a:extLst>
              <a:ext uri="{FF2B5EF4-FFF2-40B4-BE49-F238E27FC236}">
                <a16:creationId xmlns:a16="http://schemas.microsoft.com/office/drawing/2014/main" id="{A5E5124F-F9C5-297C-851B-0CA76DA52FF5}"/>
              </a:ext>
            </a:extLst>
          </p:cNvPr>
          <p:cNvSpPr/>
          <p:nvPr/>
        </p:nvSpPr>
        <p:spPr>
          <a:xfrm>
            <a:off x="6159165" y="2342320"/>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r>
              <a:rPr lang="en-US" sz="1100" dirty="0">
                <a:solidFill>
                  <a:schemeClr val="bg1"/>
                </a:solidFill>
                <a:latin typeface="Poppins" panose="00000500000000000000" pitchFamily="2" charset="0"/>
                <a:cs typeface="Poppins" panose="00000500000000000000" pitchFamily="2" charset="0"/>
              </a:rPr>
              <a:t>Provide consolidated early refill alerts for patients on multiple medications and chronic conditions to avoid misuse or stockpiling.</a:t>
            </a:r>
          </a:p>
          <a:p>
            <a:endParaRPr lang="en-US" sz="1100" dirty="0">
              <a:solidFill>
                <a:schemeClr val="bg1"/>
              </a:solidFill>
              <a:latin typeface="Poppins" panose="00000500000000000000" pitchFamily="2" charset="0"/>
              <a:cs typeface="Poppins" panose="00000500000000000000" pitchFamily="2" charset="0"/>
            </a:endParaRPr>
          </a:p>
        </p:txBody>
      </p:sp>
      <p:sp>
        <p:nvSpPr>
          <p:cNvPr id="9" name="Rectangle: Rounded Corners 8">
            <a:extLst>
              <a:ext uri="{FF2B5EF4-FFF2-40B4-BE49-F238E27FC236}">
                <a16:creationId xmlns:a16="http://schemas.microsoft.com/office/drawing/2014/main" id="{42E930BB-C832-E53A-C8D0-DDBDAD3496B8}"/>
              </a:ext>
            </a:extLst>
          </p:cNvPr>
          <p:cNvSpPr/>
          <p:nvPr/>
        </p:nvSpPr>
        <p:spPr>
          <a:xfrm>
            <a:off x="9192044" y="2339493"/>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Risk Evaluation and Mitigation Strategies (REMS) enforced by the US FDA to ensure that the benefits of certain medications outweigh their risks to help ensure safe use </a:t>
            </a:r>
          </a:p>
        </p:txBody>
      </p:sp>
      <p:sp>
        <p:nvSpPr>
          <p:cNvPr id="15" name="TextBox 14">
            <a:extLst>
              <a:ext uri="{FF2B5EF4-FFF2-40B4-BE49-F238E27FC236}">
                <a16:creationId xmlns:a16="http://schemas.microsoft.com/office/drawing/2014/main" id="{84ABDBBD-497C-E38A-CA9A-155FB2126FCF}"/>
              </a:ext>
            </a:extLst>
          </p:cNvPr>
          <p:cNvSpPr txBox="1"/>
          <p:nvPr/>
        </p:nvSpPr>
        <p:spPr>
          <a:xfrm>
            <a:off x="93407" y="2408393"/>
            <a:ext cx="3048000"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Drug-Allergy Interactions</a:t>
            </a:r>
          </a:p>
        </p:txBody>
      </p:sp>
      <p:sp>
        <p:nvSpPr>
          <p:cNvPr id="17" name="TextBox 16">
            <a:extLst>
              <a:ext uri="{FF2B5EF4-FFF2-40B4-BE49-F238E27FC236}">
                <a16:creationId xmlns:a16="http://schemas.microsoft.com/office/drawing/2014/main" id="{D770F882-6C8B-F70A-1E6C-B6AE2C499966}"/>
              </a:ext>
            </a:extLst>
          </p:cNvPr>
          <p:cNvSpPr txBox="1"/>
          <p:nvPr/>
        </p:nvSpPr>
        <p:spPr>
          <a:xfrm>
            <a:off x="3126286" y="2403438"/>
            <a:ext cx="2364473"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Quantity Limits</a:t>
            </a:r>
          </a:p>
        </p:txBody>
      </p:sp>
      <p:sp>
        <p:nvSpPr>
          <p:cNvPr id="19" name="TextBox 18">
            <a:extLst>
              <a:ext uri="{FF2B5EF4-FFF2-40B4-BE49-F238E27FC236}">
                <a16:creationId xmlns:a16="http://schemas.microsoft.com/office/drawing/2014/main" id="{17E06360-B8F8-8B78-F29E-8B9E0B38E30C}"/>
              </a:ext>
            </a:extLst>
          </p:cNvPr>
          <p:cNvSpPr txBox="1"/>
          <p:nvPr/>
        </p:nvSpPr>
        <p:spPr>
          <a:xfrm>
            <a:off x="6159165" y="2403438"/>
            <a:ext cx="2635045"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 Refill Too Soon</a:t>
            </a:r>
          </a:p>
        </p:txBody>
      </p:sp>
      <p:sp>
        <p:nvSpPr>
          <p:cNvPr id="21" name="TextBox 20">
            <a:extLst>
              <a:ext uri="{FF2B5EF4-FFF2-40B4-BE49-F238E27FC236}">
                <a16:creationId xmlns:a16="http://schemas.microsoft.com/office/drawing/2014/main" id="{C7E41A68-4062-24C3-F9E2-F00E8AD2C30C}"/>
              </a:ext>
            </a:extLst>
          </p:cNvPr>
          <p:cNvSpPr txBox="1"/>
          <p:nvPr/>
        </p:nvSpPr>
        <p:spPr>
          <a:xfrm>
            <a:off x="9290180" y="2410069"/>
            <a:ext cx="2546555"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High-Risk Medications</a:t>
            </a:r>
          </a:p>
        </p:txBody>
      </p:sp>
      <p:sp>
        <p:nvSpPr>
          <p:cNvPr id="20" name="Rectangle: Rounded Corners 19">
            <a:extLst>
              <a:ext uri="{FF2B5EF4-FFF2-40B4-BE49-F238E27FC236}">
                <a16:creationId xmlns:a16="http://schemas.microsoft.com/office/drawing/2014/main" id="{CBD05391-1DAF-5E90-D7B6-B79143E49784}"/>
              </a:ext>
            </a:extLst>
          </p:cNvPr>
          <p:cNvSpPr/>
          <p:nvPr/>
        </p:nvSpPr>
        <p:spPr>
          <a:xfrm>
            <a:off x="93407" y="4535747"/>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Identify patients at high risk for adverse drug events and duplication therapy  due to concurrent use of multiple medications from multi prescriptions</a:t>
            </a:r>
          </a:p>
        </p:txBody>
      </p:sp>
      <p:sp>
        <p:nvSpPr>
          <p:cNvPr id="22" name="Rectangle: Rounded Corners 21">
            <a:extLst>
              <a:ext uri="{FF2B5EF4-FFF2-40B4-BE49-F238E27FC236}">
                <a16:creationId xmlns:a16="http://schemas.microsoft.com/office/drawing/2014/main" id="{D38A542B-EAAB-A8C9-38BD-EE447C0ABDEF}"/>
              </a:ext>
            </a:extLst>
          </p:cNvPr>
          <p:cNvSpPr/>
          <p:nvPr/>
        </p:nvSpPr>
        <p:spPr>
          <a:xfrm>
            <a:off x="3126286" y="4535747"/>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dirty="0">
              <a:solidFill>
                <a:schemeClr val="bg1"/>
              </a:solidFill>
              <a:latin typeface="Poppins" panose="00000500000000000000" pitchFamily="2" charset="0"/>
              <a:cs typeface="Poppins" panose="00000500000000000000" pitchFamily="2" charset="0"/>
            </a:endParaRPr>
          </a:p>
          <a:p>
            <a:endParaRPr lang="en-US" sz="1100" dirty="0">
              <a:solidFill>
                <a:schemeClr val="bg1"/>
              </a:solidFill>
              <a:latin typeface="Poppins" panose="00000500000000000000" pitchFamily="2" charset="0"/>
              <a:cs typeface="Poppins" panose="00000500000000000000" pitchFamily="2" charset="0"/>
            </a:endParaRPr>
          </a:p>
          <a:p>
            <a:r>
              <a:rPr lang="en-US" sz="1100" dirty="0">
                <a:solidFill>
                  <a:schemeClr val="bg1"/>
                </a:solidFill>
                <a:latin typeface="Poppins" panose="00000500000000000000" pitchFamily="2" charset="0"/>
                <a:cs typeface="Poppins" panose="00000500000000000000" pitchFamily="2" charset="0"/>
              </a:rPr>
              <a:t>Check the step therapy protocols that prioritize first-line or preferred medications to provide proper treatment plan </a:t>
            </a:r>
          </a:p>
        </p:txBody>
      </p:sp>
      <p:sp>
        <p:nvSpPr>
          <p:cNvPr id="23" name="Rectangle: Rounded Corners 22">
            <a:extLst>
              <a:ext uri="{FF2B5EF4-FFF2-40B4-BE49-F238E27FC236}">
                <a16:creationId xmlns:a16="http://schemas.microsoft.com/office/drawing/2014/main" id="{5C1E9BE2-644B-A4AB-A741-8B24ABBA0D79}"/>
              </a:ext>
            </a:extLst>
          </p:cNvPr>
          <p:cNvSpPr/>
          <p:nvPr/>
        </p:nvSpPr>
        <p:spPr>
          <a:xfrm>
            <a:off x="6159165" y="4535747"/>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Ensure selection of age-appropriate medication formulations for pediatrics based on age and weight. Also encourage the use of easier to consume forms e.g. liquids, chewable</a:t>
            </a:r>
          </a:p>
        </p:txBody>
      </p:sp>
      <p:sp>
        <p:nvSpPr>
          <p:cNvPr id="24" name="Rectangle: Rounded Corners 23">
            <a:extLst>
              <a:ext uri="{FF2B5EF4-FFF2-40B4-BE49-F238E27FC236}">
                <a16:creationId xmlns:a16="http://schemas.microsoft.com/office/drawing/2014/main" id="{EF517E14-D920-745C-80B0-D25227ED9071}"/>
              </a:ext>
            </a:extLst>
          </p:cNvPr>
          <p:cNvSpPr/>
          <p:nvPr/>
        </p:nvSpPr>
        <p:spPr>
          <a:xfrm>
            <a:off x="9192044" y="4532920"/>
            <a:ext cx="2934743" cy="145517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a:p>
            <a:r>
              <a:rPr lang="en-US" sz="1100">
                <a:solidFill>
                  <a:schemeClr val="bg1"/>
                </a:solidFill>
                <a:latin typeface="Poppins" panose="00000500000000000000" pitchFamily="2" charset="0"/>
                <a:cs typeface="Poppins" panose="00000500000000000000" pitchFamily="2" charset="0"/>
              </a:rPr>
              <a:t>Ensure the appropriate selection of medications for elderly based on conditions, age-related changes, risk of fall, and potential medication interactions</a:t>
            </a:r>
          </a:p>
        </p:txBody>
      </p:sp>
      <p:sp>
        <p:nvSpPr>
          <p:cNvPr id="25" name="TextBox 24">
            <a:extLst>
              <a:ext uri="{FF2B5EF4-FFF2-40B4-BE49-F238E27FC236}">
                <a16:creationId xmlns:a16="http://schemas.microsoft.com/office/drawing/2014/main" id="{EF6A1D4C-17C3-07BB-F310-E2407179BC07}"/>
              </a:ext>
            </a:extLst>
          </p:cNvPr>
          <p:cNvSpPr txBox="1"/>
          <p:nvPr/>
        </p:nvSpPr>
        <p:spPr>
          <a:xfrm>
            <a:off x="93407" y="4586430"/>
            <a:ext cx="2733181" cy="492443"/>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Multiple Pharmacy Management Edits</a:t>
            </a:r>
          </a:p>
        </p:txBody>
      </p:sp>
      <p:sp>
        <p:nvSpPr>
          <p:cNvPr id="26" name="TextBox 25">
            <a:extLst>
              <a:ext uri="{FF2B5EF4-FFF2-40B4-BE49-F238E27FC236}">
                <a16:creationId xmlns:a16="http://schemas.microsoft.com/office/drawing/2014/main" id="{DD4A68B6-5D17-D9CB-1782-1B169A64847B}"/>
              </a:ext>
            </a:extLst>
          </p:cNvPr>
          <p:cNvSpPr txBox="1"/>
          <p:nvPr/>
        </p:nvSpPr>
        <p:spPr>
          <a:xfrm>
            <a:off x="3126286" y="4586430"/>
            <a:ext cx="2364473" cy="292388"/>
          </a:xfrm>
          <a:prstGeom prst="rect">
            <a:avLst/>
          </a:prstGeom>
          <a:noFill/>
        </p:spPr>
        <p:txBody>
          <a:bodyPr wrap="square">
            <a:spAutoFit/>
          </a:bodyPr>
          <a:lstStyle/>
          <a:p>
            <a:r>
              <a:rPr lang="en-US" sz="1300" b="1">
                <a:solidFill>
                  <a:schemeClr val="bg1"/>
                </a:solidFill>
                <a:latin typeface="Poppins" panose="00000500000000000000" pitchFamily="2" charset="0"/>
                <a:ea typeface="Lato" panose="020F0502020204030203" pitchFamily="34" charset="0"/>
                <a:cs typeface="Poppins" panose="00000500000000000000" pitchFamily="2" charset="0"/>
              </a:rPr>
              <a:t>Stepwise care edits</a:t>
            </a:r>
            <a:endParaRPr lang="en-US" sz="1300" b="1">
              <a:solidFill>
                <a:schemeClr val="bg1"/>
              </a:solidFill>
              <a:latin typeface="Poppins" panose="00000500000000000000" pitchFamily="2" charset="0"/>
              <a:cs typeface="Poppins" panose="00000500000000000000" pitchFamily="2" charset="0"/>
            </a:endParaRPr>
          </a:p>
        </p:txBody>
      </p:sp>
      <p:sp>
        <p:nvSpPr>
          <p:cNvPr id="27" name="TextBox 26">
            <a:extLst>
              <a:ext uri="{FF2B5EF4-FFF2-40B4-BE49-F238E27FC236}">
                <a16:creationId xmlns:a16="http://schemas.microsoft.com/office/drawing/2014/main" id="{69B459D2-A600-A01B-EA84-5D8405481D54}"/>
              </a:ext>
            </a:extLst>
          </p:cNvPr>
          <p:cNvSpPr txBox="1"/>
          <p:nvPr/>
        </p:nvSpPr>
        <p:spPr>
          <a:xfrm>
            <a:off x="6159165" y="4587301"/>
            <a:ext cx="2635045" cy="292388"/>
          </a:xfrm>
          <a:prstGeom prst="rect">
            <a:avLst/>
          </a:prstGeom>
          <a:noFill/>
        </p:spPr>
        <p:txBody>
          <a:bodyPr wrap="square">
            <a:spAutoFit/>
          </a:bodyPr>
          <a:lstStyle/>
          <a:p>
            <a:r>
              <a:rPr lang="en-US" sz="1300" b="1">
                <a:solidFill>
                  <a:schemeClr val="bg1"/>
                </a:solidFill>
                <a:latin typeface="Poppins" panose="00000500000000000000" pitchFamily="2" charset="0"/>
                <a:ea typeface="Lato" panose="020F0502020204030203" pitchFamily="34" charset="0"/>
                <a:cs typeface="Poppins" panose="00000500000000000000" pitchFamily="2" charset="0"/>
              </a:rPr>
              <a:t>Pediatric Dosing Edits</a:t>
            </a:r>
            <a:endParaRPr lang="en-US" sz="1300" b="1">
              <a:solidFill>
                <a:schemeClr val="bg1"/>
              </a:solidFill>
              <a:latin typeface="Poppins" panose="00000500000000000000" pitchFamily="2" charset="0"/>
              <a:cs typeface="Poppins" panose="00000500000000000000" pitchFamily="2" charset="0"/>
            </a:endParaRPr>
          </a:p>
        </p:txBody>
      </p:sp>
      <p:sp>
        <p:nvSpPr>
          <p:cNvPr id="28" name="TextBox 27">
            <a:extLst>
              <a:ext uri="{FF2B5EF4-FFF2-40B4-BE49-F238E27FC236}">
                <a16:creationId xmlns:a16="http://schemas.microsoft.com/office/drawing/2014/main" id="{4545A68C-39B5-F88D-0D2E-58745BF34A5D}"/>
              </a:ext>
            </a:extLst>
          </p:cNvPr>
          <p:cNvSpPr txBox="1"/>
          <p:nvPr/>
        </p:nvSpPr>
        <p:spPr>
          <a:xfrm>
            <a:off x="9192044" y="4589276"/>
            <a:ext cx="3309289" cy="292388"/>
          </a:xfrm>
          <a:prstGeom prst="rect">
            <a:avLst/>
          </a:prstGeom>
          <a:noFill/>
        </p:spPr>
        <p:txBody>
          <a:bodyPr wrap="square">
            <a:spAutoFit/>
          </a:bodyPr>
          <a:lstStyle/>
          <a:p>
            <a:r>
              <a:rPr lang="en-US" sz="1300" b="1">
                <a:solidFill>
                  <a:schemeClr val="bg1"/>
                </a:solidFill>
                <a:latin typeface="Poppins" panose="00000500000000000000" pitchFamily="2" charset="0"/>
                <a:cs typeface="Poppins" panose="00000500000000000000" pitchFamily="2" charset="0"/>
              </a:rPr>
              <a:t>Geriatric Dosage Management</a:t>
            </a:r>
          </a:p>
        </p:txBody>
      </p:sp>
      <p:sp>
        <p:nvSpPr>
          <p:cNvPr id="2" name="TextBox 1">
            <a:extLst>
              <a:ext uri="{FF2B5EF4-FFF2-40B4-BE49-F238E27FC236}">
                <a16:creationId xmlns:a16="http://schemas.microsoft.com/office/drawing/2014/main" id="{A43DF538-1385-E0DF-3C9E-8D642FC007AB}"/>
              </a:ext>
            </a:extLst>
          </p:cNvPr>
          <p:cNvSpPr txBox="1"/>
          <p:nvPr/>
        </p:nvSpPr>
        <p:spPr>
          <a:xfrm>
            <a:off x="0" y="782247"/>
            <a:ext cx="7442857" cy="553998"/>
          </a:xfrm>
          <a:prstGeom prst="rect">
            <a:avLst/>
          </a:prstGeom>
          <a:noFill/>
        </p:spPr>
        <p:txBody>
          <a:bodyPr wrap="square" rtlCol="0">
            <a:spAutoFit/>
          </a:bodyPr>
          <a:lstStyle/>
          <a:p>
            <a:pPr>
              <a:lnSpc>
                <a:spcPts val="1800"/>
              </a:lnSpc>
            </a:pPr>
            <a:r>
              <a:rPr lang="en-US" sz="1600" i="0">
                <a:solidFill>
                  <a:schemeClr val="bg1"/>
                </a:solidFill>
                <a:effectLst/>
                <a:latin typeface="Poppins" pitchFamily="2" charset="77"/>
                <a:ea typeface="Jost" pitchFamily="2" charset="0"/>
                <a:cs typeface="Poppins" pitchFamily="2" charset="77"/>
              </a:rPr>
              <a:t>Transforming pharmacy benefit management from reactive to proactive care.</a:t>
            </a:r>
            <a:endParaRPr lang="en-US" sz="1600">
              <a:solidFill>
                <a:schemeClr val="bg1"/>
              </a:solidFill>
              <a:latin typeface="Poppins" pitchFamily="2" charset="77"/>
              <a:ea typeface="Jost" pitchFamily="2" charset="0"/>
              <a:cs typeface="Poppins" pitchFamily="2" charset="77"/>
            </a:endParaRPr>
          </a:p>
        </p:txBody>
      </p:sp>
      <p:sp>
        <p:nvSpPr>
          <p:cNvPr id="4" name="TextBox 3">
            <a:extLst>
              <a:ext uri="{FF2B5EF4-FFF2-40B4-BE49-F238E27FC236}">
                <a16:creationId xmlns:a16="http://schemas.microsoft.com/office/drawing/2014/main" id="{8DF501C4-843B-E442-C79B-1B7EC5C0EF12}"/>
              </a:ext>
            </a:extLst>
          </p:cNvPr>
          <p:cNvSpPr txBox="1"/>
          <p:nvPr/>
        </p:nvSpPr>
        <p:spPr>
          <a:xfrm>
            <a:off x="0" y="165559"/>
            <a:ext cx="7045518" cy="584775"/>
          </a:xfrm>
          <a:prstGeom prst="rect">
            <a:avLst/>
          </a:prstGeom>
          <a:noFill/>
        </p:spPr>
        <p:txBody>
          <a:bodyPr wrap="none" rtlCol="0">
            <a:spAutoFit/>
          </a:bodyPr>
          <a:lstStyle/>
          <a:p>
            <a:r>
              <a:rPr lang="en-US" sz="3200" b="1">
                <a:solidFill>
                  <a:schemeClr val="bg1"/>
                </a:solidFill>
                <a:latin typeface="Poppins" pitchFamily="2" charset="77"/>
                <a:ea typeface="Inter SemiBold" panose="020B0502030000000004" pitchFamily="34" charset="0"/>
                <a:cs typeface="Poppins" pitchFamily="2" charset="77"/>
              </a:rPr>
              <a:t>What Makes Ai Pharma Different</a:t>
            </a:r>
          </a:p>
        </p:txBody>
      </p:sp>
    </p:spTree>
    <p:extLst>
      <p:ext uri="{BB962C8B-B14F-4D97-AF65-F5344CB8AC3E}">
        <p14:creationId xmlns:p14="http://schemas.microsoft.com/office/powerpoint/2010/main" val="2688060297"/>
      </p:ext>
    </p:extLst>
  </p:cSld>
  <p:clrMapOvr>
    <a:masterClrMapping/>
  </p:clrMapOvr>
  <p:transition spd="slow">
    <p:push dir="u"/>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4402B-D2BA-EAD3-1344-5A0C7284884E}"/>
            </a:ext>
          </a:extLst>
        </p:cNvPr>
        <p:cNvGrpSpPr/>
        <p:nvPr/>
      </p:nvGrpSpPr>
      <p:grpSpPr>
        <a:xfrm>
          <a:off x="0" y="0"/>
          <a:ext cx="0" cy="0"/>
          <a:chOff x="0" y="0"/>
          <a:chExt cx="0" cy="0"/>
        </a:xfrm>
      </p:grpSpPr>
      <p:sp>
        <p:nvSpPr>
          <p:cNvPr id="5" name="Rectangle: Rounded Corners 4">
            <a:extLst>
              <a:ext uri="{FF2B5EF4-FFF2-40B4-BE49-F238E27FC236}">
                <a16:creationId xmlns:a16="http://schemas.microsoft.com/office/drawing/2014/main" id="{825CFDA8-FA7E-09BB-778B-2BA1F9000576}"/>
              </a:ext>
            </a:extLst>
          </p:cNvPr>
          <p:cNvSpPr/>
          <p:nvPr/>
        </p:nvSpPr>
        <p:spPr>
          <a:xfrm>
            <a:off x="757136" y="1447584"/>
            <a:ext cx="10677728" cy="5077709"/>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lIns="91440" tIns="45720" rIns="91440" bIns="45720" rtlCol="0" anchor="ctr"/>
          <a:lstStyle/>
          <a:p>
            <a:endParaRPr lang="en-US" sz="1100" dirty="0">
              <a:solidFill>
                <a:schemeClr val="bg1"/>
              </a:solidFill>
              <a:latin typeface="Poppins" panose="00000500000000000000" pitchFamily="2" charset="0"/>
              <a:cs typeface="Poppins" panose="00000500000000000000" pitchFamily="2" charset="0"/>
            </a:endParaRPr>
          </a:p>
          <a:p>
            <a:endParaRPr lang="en-US" sz="1100" dirty="0">
              <a:solidFill>
                <a:schemeClr val="bg1"/>
              </a:solidFill>
              <a:latin typeface="Poppins" panose="00000500000000000000" pitchFamily="2" charset="0"/>
              <a:cs typeface="Poppins" panose="00000500000000000000" pitchFamily="2" charset="0"/>
            </a:endParaRP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Implementing Dates validation on service level</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Dosage Form Restriction Validation (Age/ Gender)</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Drug Age/ Gender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Boxed Warning</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ICD10 Drug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Excluded diagnosis validation </a:t>
            </a:r>
          </a:p>
          <a:p>
            <a:pPr marL="342900" indent="-342900">
              <a:buFont typeface="+mj-lt"/>
              <a:buAutoNum type="arabicPeriod"/>
            </a:pPr>
            <a:r>
              <a:rPr lang="en-US" sz="1400">
                <a:solidFill>
                  <a:schemeClr val="bg1"/>
                </a:solidFill>
                <a:latin typeface="Poppins"/>
                <a:cs typeface="Poppins"/>
              </a:rPr>
              <a:t>Insulin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Drug-Disease Contraindications</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Geriatric Dosage Management</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DDI (Drug To Drug Interaction)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Drugs Duplication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Pregnancy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Duplicate Therapy</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Children Antibiotic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Eye Ear Antibiotic Validation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Refill Too Soon</a:t>
            </a:r>
          </a:p>
          <a:p>
            <a:pPr marL="342900" indent="-342900">
              <a:buFont typeface="+mj-lt"/>
              <a:buAutoNum type="arabicPeriod"/>
            </a:pPr>
            <a:r>
              <a:rPr lang="en-US" sz="1400" dirty="0">
                <a:solidFill>
                  <a:schemeClr val="bg1"/>
                </a:solidFill>
                <a:latin typeface="Poppins" panose="00000500000000000000" pitchFamily="2" charset="0"/>
                <a:cs typeface="Poppins" panose="00000500000000000000" pitchFamily="2" charset="0"/>
              </a:rPr>
              <a:t>Quantity for Adult/ Pediatric</a:t>
            </a:r>
          </a:p>
          <a:p>
            <a:r>
              <a:rPr lang="en-US" sz="1400" dirty="0">
                <a:solidFill>
                  <a:schemeClr val="bg1"/>
                </a:solidFill>
                <a:latin typeface="Poppins" panose="00000500000000000000" pitchFamily="2" charset="0"/>
                <a:cs typeface="Poppins" panose="00000500000000000000" pitchFamily="2" charset="0"/>
              </a:rPr>
              <a:t>Parallel with Medication validation in case of medical device in request</a:t>
            </a:r>
          </a:p>
          <a:p>
            <a:pPr marL="342900" indent="-342900">
              <a:buFont typeface="+mj-lt"/>
              <a:buAutoNum type="arabicPeriod" startAt="19"/>
            </a:pPr>
            <a:r>
              <a:rPr lang="en-US" sz="1400" dirty="0">
                <a:solidFill>
                  <a:schemeClr val="bg1"/>
                </a:solidFill>
                <a:latin typeface="Poppins" panose="00000500000000000000" pitchFamily="2" charset="0"/>
                <a:cs typeface="Poppins" panose="00000500000000000000" pitchFamily="2" charset="0"/>
              </a:rPr>
              <a:t>Medical Device- ICD10 validation </a:t>
            </a:r>
          </a:p>
          <a:p>
            <a:pPr marL="342900" indent="-342900">
              <a:buFont typeface="+mj-lt"/>
              <a:buAutoNum type="arabicPeriod" startAt="19"/>
            </a:pPr>
            <a:r>
              <a:rPr lang="en-US" sz="1400" dirty="0">
                <a:solidFill>
                  <a:schemeClr val="bg1"/>
                </a:solidFill>
                <a:latin typeface="Poppins" panose="00000500000000000000" pitchFamily="2" charset="0"/>
                <a:cs typeface="Poppins" panose="00000500000000000000" pitchFamily="2" charset="0"/>
              </a:rPr>
              <a:t>Medical Device Duplication check</a:t>
            </a:r>
          </a:p>
          <a:p>
            <a:endParaRPr lang="en-US" sz="1100" dirty="0">
              <a:solidFill>
                <a:schemeClr val="bg1"/>
              </a:solidFill>
              <a:latin typeface="Poppins" panose="00000500000000000000" pitchFamily="2" charset="0"/>
              <a:cs typeface="Poppins" panose="00000500000000000000" pitchFamily="2" charset="0"/>
            </a:endParaRPr>
          </a:p>
        </p:txBody>
      </p:sp>
      <p:sp>
        <p:nvSpPr>
          <p:cNvPr id="2" name="TextBox 1">
            <a:extLst>
              <a:ext uri="{FF2B5EF4-FFF2-40B4-BE49-F238E27FC236}">
                <a16:creationId xmlns:a16="http://schemas.microsoft.com/office/drawing/2014/main" id="{75CF7F0E-F8F1-1CE1-367F-C60195C227E1}"/>
              </a:ext>
            </a:extLst>
          </p:cNvPr>
          <p:cNvSpPr txBox="1"/>
          <p:nvPr/>
        </p:nvSpPr>
        <p:spPr>
          <a:xfrm>
            <a:off x="0" y="782247"/>
            <a:ext cx="7442857" cy="553998"/>
          </a:xfrm>
          <a:prstGeom prst="rect">
            <a:avLst/>
          </a:prstGeom>
          <a:noFill/>
        </p:spPr>
        <p:txBody>
          <a:bodyPr wrap="square" rtlCol="0">
            <a:spAutoFit/>
          </a:bodyPr>
          <a:lstStyle/>
          <a:p>
            <a:pPr>
              <a:lnSpc>
                <a:spcPts val="1800"/>
              </a:lnSpc>
            </a:pPr>
            <a:r>
              <a:rPr lang="en-US" sz="1600" i="0" dirty="0">
                <a:solidFill>
                  <a:schemeClr val="bg1"/>
                </a:solidFill>
                <a:effectLst/>
                <a:latin typeface="Poppins" pitchFamily="2" charset="77"/>
                <a:ea typeface="Jost" pitchFamily="2" charset="0"/>
                <a:cs typeface="Poppins" pitchFamily="2" charset="77"/>
              </a:rPr>
              <a:t>Transforming pharmacy benefit management from reactive to proactive care.</a:t>
            </a:r>
            <a:endParaRPr lang="en-US" sz="1600" dirty="0">
              <a:solidFill>
                <a:schemeClr val="bg1"/>
              </a:solidFill>
              <a:latin typeface="Poppins" pitchFamily="2" charset="77"/>
              <a:ea typeface="Jost" pitchFamily="2" charset="0"/>
              <a:cs typeface="Poppins" pitchFamily="2" charset="77"/>
            </a:endParaRPr>
          </a:p>
        </p:txBody>
      </p:sp>
      <p:sp>
        <p:nvSpPr>
          <p:cNvPr id="4" name="TextBox 3">
            <a:extLst>
              <a:ext uri="{FF2B5EF4-FFF2-40B4-BE49-F238E27FC236}">
                <a16:creationId xmlns:a16="http://schemas.microsoft.com/office/drawing/2014/main" id="{E5A3C1F0-9AB7-5388-43B8-F10A8828797D}"/>
              </a:ext>
            </a:extLst>
          </p:cNvPr>
          <p:cNvSpPr txBox="1"/>
          <p:nvPr/>
        </p:nvSpPr>
        <p:spPr>
          <a:xfrm>
            <a:off x="0" y="165559"/>
            <a:ext cx="6781023" cy="584775"/>
          </a:xfrm>
          <a:prstGeom prst="rect">
            <a:avLst/>
          </a:prstGeom>
          <a:noFill/>
        </p:spPr>
        <p:txBody>
          <a:bodyPr wrap="none" rtlCol="0">
            <a:spAutoFit/>
          </a:bodyPr>
          <a:lstStyle/>
          <a:p>
            <a:r>
              <a:rPr lang="en-US" sz="3200" b="1" dirty="0">
                <a:solidFill>
                  <a:schemeClr val="bg1"/>
                </a:solidFill>
                <a:latin typeface="Poppins" pitchFamily="2" charset="77"/>
                <a:ea typeface="Inter SemiBold" panose="020B0502030000000004" pitchFamily="34" charset="0"/>
                <a:cs typeface="Poppins" pitchFamily="2" charset="77"/>
              </a:rPr>
              <a:t>Ai Pharma Implemented Logics</a:t>
            </a:r>
          </a:p>
        </p:txBody>
      </p:sp>
    </p:spTree>
    <p:extLst>
      <p:ext uri="{BB962C8B-B14F-4D97-AF65-F5344CB8AC3E}">
        <p14:creationId xmlns:p14="http://schemas.microsoft.com/office/powerpoint/2010/main" val="3176333403"/>
      </p:ext>
    </p:extLst>
  </p:cSld>
  <p:clrMapOvr>
    <a:masterClrMapping/>
  </p:clrMapOvr>
  <p:transition spd="slow">
    <p:push dir="u"/>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Rounded Corners 11">
            <a:extLst>
              <a:ext uri="{FF2B5EF4-FFF2-40B4-BE49-F238E27FC236}">
                <a16:creationId xmlns:a16="http://schemas.microsoft.com/office/drawing/2014/main" id="{88D6BFC8-49A8-5323-F842-0A312049203C}"/>
              </a:ext>
            </a:extLst>
          </p:cNvPr>
          <p:cNvSpPr/>
          <p:nvPr/>
        </p:nvSpPr>
        <p:spPr>
          <a:xfrm>
            <a:off x="279811" y="3904513"/>
            <a:ext cx="11455397" cy="2369187"/>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p:txBody>
      </p:sp>
      <p:sp>
        <p:nvSpPr>
          <p:cNvPr id="4" name="Rectangle: Rounded Corners 3">
            <a:extLst>
              <a:ext uri="{FF2B5EF4-FFF2-40B4-BE49-F238E27FC236}">
                <a16:creationId xmlns:a16="http://schemas.microsoft.com/office/drawing/2014/main" id="{71AFF06B-CE92-69E4-4DD2-46BDFC8EC9C1}"/>
              </a:ext>
            </a:extLst>
          </p:cNvPr>
          <p:cNvSpPr/>
          <p:nvPr/>
        </p:nvSpPr>
        <p:spPr>
          <a:xfrm>
            <a:off x="279811" y="1026801"/>
            <a:ext cx="11455397" cy="2369187"/>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endParaRPr lang="en-US" sz="1100">
              <a:solidFill>
                <a:schemeClr val="bg1"/>
              </a:solidFill>
              <a:latin typeface="Poppins" panose="00000500000000000000" pitchFamily="2" charset="0"/>
              <a:cs typeface="Poppins" panose="00000500000000000000" pitchFamily="2" charset="0"/>
            </a:endParaRPr>
          </a:p>
          <a:p>
            <a:endParaRPr lang="en-US" sz="1100">
              <a:solidFill>
                <a:schemeClr val="bg1"/>
              </a:solidFill>
              <a:latin typeface="Poppins" panose="00000500000000000000" pitchFamily="2" charset="0"/>
              <a:cs typeface="Poppins" panose="00000500000000000000" pitchFamily="2" charset="0"/>
            </a:endParaRPr>
          </a:p>
        </p:txBody>
      </p:sp>
      <p:sp>
        <p:nvSpPr>
          <p:cNvPr id="2" name="TextBox 21">
            <a:extLst>
              <a:ext uri="{FF2B5EF4-FFF2-40B4-BE49-F238E27FC236}">
                <a16:creationId xmlns:a16="http://schemas.microsoft.com/office/drawing/2014/main" id="{E983EB51-F85D-1335-A0BE-3BB9325967FF}"/>
              </a:ext>
            </a:extLst>
          </p:cNvPr>
          <p:cNvSpPr txBox="1"/>
          <p:nvPr/>
        </p:nvSpPr>
        <p:spPr>
          <a:xfrm>
            <a:off x="89525" y="58003"/>
            <a:ext cx="10217622" cy="492443"/>
          </a:xfrm>
          <a:prstGeom prst="rect">
            <a:avLst/>
          </a:prstGeom>
        </p:spPr>
        <p:txBody>
          <a:bodyPr wrap="square" lIns="0" tIns="0" rIns="0" bIns="0" rtlCol="0" anchor="t">
            <a:spAutoFit/>
          </a:bodyPr>
          <a:lstStyle>
            <a:defPPr>
              <a:defRPr lang="en-US"/>
            </a:defPPr>
            <a:lvl1pPr algn="ctr" defTabSz="609630">
              <a:defRPr sz="2800">
                <a:solidFill>
                  <a:srgbClr val="AF1A8C"/>
                </a:solidFill>
                <a:latin typeface="Poppins"/>
              </a:defRPr>
            </a:lvl1pPr>
          </a:lstStyle>
          <a:p>
            <a:pPr algn="l"/>
            <a:r>
              <a:rPr lang="en-US" sz="3200" b="1" dirty="0">
                <a:solidFill>
                  <a:schemeClr val="bg1"/>
                </a:solidFill>
              </a:rPr>
              <a:t>References</a:t>
            </a:r>
            <a:r>
              <a:rPr lang="en-US" sz="3200" dirty="0">
                <a:solidFill>
                  <a:schemeClr val="bg1"/>
                </a:solidFill>
              </a:rPr>
              <a:t> </a:t>
            </a:r>
          </a:p>
        </p:txBody>
      </p:sp>
      <p:sp>
        <p:nvSpPr>
          <p:cNvPr id="3" name="TextBox 2">
            <a:extLst>
              <a:ext uri="{FF2B5EF4-FFF2-40B4-BE49-F238E27FC236}">
                <a16:creationId xmlns:a16="http://schemas.microsoft.com/office/drawing/2014/main" id="{4148C144-5942-7C07-99C4-42BA3E49C2BD}"/>
              </a:ext>
            </a:extLst>
          </p:cNvPr>
          <p:cNvSpPr txBox="1"/>
          <p:nvPr/>
        </p:nvSpPr>
        <p:spPr>
          <a:xfrm>
            <a:off x="460316" y="1295957"/>
            <a:ext cx="10671597" cy="1631216"/>
          </a:xfrm>
          <a:prstGeom prst="rect">
            <a:avLst/>
          </a:prstGeom>
          <a:noFill/>
        </p:spPr>
        <p:txBody>
          <a:bodyPr wrap="square" rtlCol="0">
            <a:spAutoFit/>
          </a:bodyPr>
          <a:lstStyle/>
          <a:p>
            <a:r>
              <a:rPr lang="en-US" sz="1400" b="1" i="0">
                <a:solidFill>
                  <a:schemeClr val="bg1"/>
                </a:solidFill>
                <a:effectLst/>
                <a:latin typeface="Poppins" panose="00000500000000000000" pitchFamily="2" charset="0"/>
                <a:cs typeface="Poppins" panose="00000500000000000000" pitchFamily="2" charset="0"/>
              </a:rPr>
              <a:t> </a:t>
            </a:r>
          </a:p>
          <a:p>
            <a:pPr marL="342900" indent="-342900">
              <a:buFont typeface="+mj-lt"/>
              <a:buAutoNum type="arabicPeriod"/>
            </a:pPr>
            <a:r>
              <a:rPr lang="en-US" sz="1400" b="0" i="0">
                <a:solidFill>
                  <a:schemeClr val="bg1"/>
                </a:solidFill>
                <a:effectLst/>
                <a:latin typeface="Poppins" panose="00000500000000000000" pitchFamily="2" charset="0"/>
                <a:cs typeface="Poppins" panose="00000500000000000000" pitchFamily="2" charset="0"/>
              </a:rPr>
              <a:t>National Institute of Medicine PubMed guidelines   </a:t>
            </a:r>
          </a:p>
          <a:p>
            <a:pPr marL="342900" indent="-342900">
              <a:buFont typeface="+mj-lt"/>
              <a:buAutoNum type="arabicPeriod"/>
            </a:pPr>
            <a:r>
              <a:rPr lang="en-GB" sz="1400" b="0" i="0" err="1">
                <a:solidFill>
                  <a:schemeClr val="bg1"/>
                </a:solidFill>
                <a:effectLst/>
                <a:latin typeface="Poppins" panose="00000500000000000000" pitchFamily="2" charset="0"/>
                <a:cs typeface="Poppins" panose="00000500000000000000" pitchFamily="2" charset="0"/>
              </a:rPr>
              <a:t>Malacards</a:t>
            </a:r>
            <a:r>
              <a:rPr lang="en-GB" sz="1400" b="0" i="0">
                <a:solidFill>
                  <a:schemeClr val="bg1"/>
                </a:solidFill>
                <a:effectLst/>
                <a:latin typeface="Poppins" panose="00000500000000000000" pitchFamily="2" charset="0"/>
                <a:cs typeface="Poppins" panose="00000500000000000000" pitchFamily="2" charset="0"/>
              </a:rPr>
              <a:t> data </a:t>
            </a:r>
            <a:endParaRPr lang="en-US" sz="1400">
              <a:solidFill>
                <a:schemeClr val="bg1"/>
              </a:solidFill>
              <a:latin typeface="Poppins" panose="00000500000000000000" pitchFamily="2" charset="0"/>
              <a:cs typeface="Poppins" panose="00000500000000000000" pitchFamily="2" charset="0"/>
            </a:endParaRPr>
          </a:p>
          <a:p>
            <a:pPr marL="342900" indent="-342900">
              <a:buFont typeface="+mj-lt"/>
              <a:buAutoNum type="arabicPeriod"/>
            </a:pPr>
            <a:r>
              <a:rPr lang="en-GB" sz="1400" b="0" i="0">
                <a:solidFill>
                  <a:schemeClr val="bg1"/>
                </a:solidFill>
                <a:effectLst/>
                <a:latin typeface="Poppins" panose="00000500000000000000" pitchFamily="2" charset="0"/>
                <a:cs typeface="Poppins" panose="00000500000000000000" pitchFamily="2" charset="0"/>
              </a:rPr>
              <a:t>CHI guidelines</a:t>
            </a:r>
          </a:p>
          <a:p>
            <a:pPr marL="342900" indent="-342900">
              <a:buFont typeface="+mj-lt"/>
              <a:buAutoNum type="arabicPeriod"/>
            </a:pPr>
            <a:r>
              <a:rPr lang="en-GB" sz="1400">
                <a:solidFill>
                  <a:schemeClr val="bg1"/>
                </a:solidFill>
                <a:latin typeface="Poppins" panose="00000500000000000000" pitchFamily="2" charset="0"/>
                <a:cs typeface="Poppins" panose="00000500000000000000" pitchFamily="2" charset="0"/>
              </a:rPr>
              <a:t>SFDA dataset</a:t>
            </a:r>
            <a:r>
              <a:rPr lang="en-GB" sz="1400" b="0" i="0">
                <a:solidFill>
                  <a:schemeClr val="bg1"/>
                </a:solidFill>
                <a:effectLst/>
                <a:latin typeface="Poppins" panose="00000500000000000000" pitchFamily="2" charset="0"/>
                <a:cs typeface="Poppins" panose="00000500000000000000" pitchFamily="2" charset="0"/>
              </a:rPr>
              <a:t> </a:t>
            </a:r>
          </a:p>
          <a:p>
            <a:pPr marL="342900" indent="-342900">
              <a:buFont typeface="+mj-lt"/>
              <a:buAutoNum type="arabicPeriod"/>
            </a:pPr>
            <a:r>
              <a:rPr lang="en-GB" sz="1400" b="0" i="0">
                <a:solidFill>
                  <a:schemeClr val="bg1"/>
                </a:solidFill>
                <a:effectLst/>
                <a:latin typeface="Poppins" panose="00000500000000000000" pitchFamily="2" charset="0"/>
                <a:cs typeface="Poppins" panose="00000500000000000000" pitchFamily="2" charset="0"/>
              </a:rPr>
              <a:t>IDF (Insurance drug Formulary) </a:t>
            </a:r>
          </a:p>
          <a:p>
            <a:pPr marL="342900" indent="-342900">
              <a:buFont typeface="+mj-lt"/>
              <a:buAutoNum type="arabicPeriod"/>
            </a:pPr>
            <a:r>
              <a:rPr lang="en-GB" sz="1400" b="0" i="0">
                <a:solidFill>
                  <a:schemeClr val="bg1"/>
                </a:solidFill>
                <a:effectLst/>
                <a:latin typeface="Poppins" panose="00000500000000000000" pitchFamily="2" charset="0"/>
                <a:cs typeface="Poppins" panose="00000500000000000000" pitchFamily="2" charset="0"/>
              </a:rPr>
              <a:t>Drug Bank drug database based on FDA updates  </a:t>
            </a:r>
            <a:endParaRPr lang="en-US" sz="1400">
              <a:solidFill>
                <a:schemeClr val="bg1"/>
              </a:solidFill>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CE03C7B9-C520-3B70-3BD9-5A5A35EB3F49}"/>
              </a:ext>
            </a:extLst>
          </p:cNvPr>
          <p:cNvSpPr txBox="1"/>
          <p:nvPr/>
        </p:nvSpPr>
        <p:spPr>
          <a:xfrm>
            <a:off x="456792" y="3873646"/>
            <a:ext cx="10471355" cy="2292935"/>
          </a:xfrm>
          <a:prstGeom prst="rect">
            <a:avLst/>
          </a:prstGeom>
          <a:noFill/>
        </p:spPr>
        <p:txBody>
          <a:bodyPr wrap="square">
            <a:spAutoFit/>
          </a:bodyPr>
          <a:lstStyle/>
          <a:p>
            <a:endParaRPr lang="en-US" sz="1300">
              <a:solidFill>
                <a:schemeClr val="bg1">
                  <a:lumMod val="95000"/>
                </a:schemeClr>
              </a:solidFill>
              <a:latin typeface="Poppins" panose="00000500000000000000" pitchFamily="2" charset="0"/>
              <a:cs typeface="Poppins" panose="00000500000000000000" pitchFamily="2" charset="0"/>
            </a:endParaRPr>
          </a:p>
          <a:p>
            <a:pPr marL="342900" indent="-342900">
              <a:buFont typeface="+mj-lt"/>
              <a:buAutoNum type="arabicPeriod"/>
            </a:pPr>
            <a:r>
              <a:rPr lang="en-US" sz="1300">
                <a:solidFill>
                  <a:schemeClr val="bg1">
                    <a:lumMod val="95000"/>
                  </a:schemeClr>
                </a:solidFill>
                <a:effectLst/>
                <a:latin typeface="Poppins" panose="00000500000000000000" pitchFamily="2" charset="0"/>
                <a:ea typeface="Aptos" panose="020B0004020202020204" pitchFamily="34" charset="0"/>
                <a:cs typeface="Poppins" panose="00000500000000000000" pitchFamily="2" charset="0"/>
              </a:rPr>
              <a:t>Risk Evaluation and Mitigation Strategies (REMS) </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Centers for Disease control and preventions (CDC) Guidelines</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Morphine Milligram Equivalents (MMEs)</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Beers Criteria Medications</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Healthcare Effectiveness Data and Information Set (HEDIS) High-Risk Medications from the CMS guidelines </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STOPP/START criteria for potentially inappropriate medications/potential prescribing omissions in older people</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European medication Agency</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New Hampshire Medicaid Quantity Limit Program</a:t>
            </a:r>
          </a:p>
          <a:p>
            <a:pPr marL="342900" indent="-342900">
              <a:buFont typeface="+mj-lt"/>
              <a:buAutoNum type="arabicPeriod"/>
            </a:pPr>
            <a:r>
              <a:rPr lang="en-US" sz="1300" b="0" i="0">
                <a:solidFill>
                  <a:schemeClr val="bg1">
                    <a:lumMod val="95000"/>
                  </a:schemeClr>
                </a:solidFill>
                <a:effectLst/>
                <a:latin typeface="Poppins" panose="00000500000000000000" pitchFamily="2" charset="0"/>
                <a:cs typeface="Poppins" panose="00000500000000000000" pitchFamily="2" charset="0"/>
              </a:rPr>
              <a:t>American College of Physicians (American Family Physicians</a:t>
            </a:r>
            <a:r>
              <a:rPr lang="en-US" sz="1300">
                <a:solidFill>
                  <a:schemeClr val="bg1">
                    <a:lumMod val="95000"/>
                  </a:schemeClr>
                </a:solidFill>
                <a:latin typeface="Poppins" panose="00000500000000000000" pitchFamily="2" charset="0"/>
                <a:cs typeface="Poppins" panose="00000500000000000000" pitchFamily="2" charset="0"/>
              </a:rPr>
              <a:t>)</a:t>
            </a:r>
          </a:p>
          <a:p>
            <a:pPr marL="342900" indent="-342900">
              <a:buFont typeface="+mj-lt"/>
              <a:buAutoNum type="arabicPeriod"/>
            </a:pPr>
            <a:r>
              <a:rPr lang="en-US" sz="1300">
                <a:solidFill>
                  <a:schemeClr val="bg1">
                    <a:lumMod val="95000"/>
                  </a:schemeClr>
                </a:solidFill>
                <a:latin typeface="Poppins" panose="00000500000000000000" pitchFamily="2" charset="0"/>
                <a:cs typeface="Poppins" panose="00000500000000000000" pitchFamily="2" charset="0"/>
              </a:rPr>
              <a:t>Centers for Disease control and preventions Guidelines</a:t>
            </a:r>
          </a:p>
        </p:txBody>
      </p:sp>
      <p:sp>
        <p:nvSpPr>
          <p:cNvPr id="9" name="TextBox 8">
            <a:extLst>
              <a:ext uri="{FF2B5EF4-FFF2-40B4-BE49-F238E27FC236}">
                <a16:creationId xmlns:a16="http://schemas.microsoft.com/office/drawing/2014/main" id="{01243D77-32D2-EBDC-88DA-01AC609A0421}"/>
              </a:ext>
            </a:extLst>
          </p:cNvPr>
          <p:cNvSpPr txBox="1"/>
          <p:nvPr/>
        </p:nvSpPr>
        <p:spPr>
          <a:xfrm>
            <a:off x="0" y="550446"/>
            <a:ext cx="3097162" cy="338554"/>
          </a:xfrm>
          <a:prstGeom prst="rect">
            <a:avLst/>
          </a:prstGeom>
          <a:noFill/>
        </p:spPr>
        <p:txBody>
          <a:bodyPr wrap="square" rtlCol="0">
            <a:spAutoFit/>
          </a:bodyPr>
          <a:lstStyle/>
          <a:p>
            <a:r>
              <a:rPr lang="en-US" sz="1600" dirty="0">
                <a:solidFill>
                  <a:schemeClr val="bg1"/>
                </a:solidFill>
                <a:latin typeface="Poppins" panose="00000500000000000000" pitchFamily="2" charset="0"/>
                <a:cs typeface="Poppins" panose="00000500000000000000" pitchFamily="2" charset="0"/>
              </a:rPr>
              <a:t>Current used references</a:t>
            </a:r>
          </a:p>
        </p:txBody>
      </p:sp>
      <p:sp>
        <p:nvSpPr>
          <p:cNvPr id="10" name="TextBox 9">
            <a:extLst>
              <a:ext uri="{FF2B5EF4-FFF2-40B4-BE49-F238E27FC236}">
                <a16:creationId xmlns:a16="http://schemas.microsoft.com/office/drawing/2014/main" id="{E5705BC9-0059-08D2-CD6A-810961BD1F3A}"/>
              </a:ext>
            </a:extLst>
          </p:cNvPr>
          <p:cNvSpPr txBox="1"/>
          <p:nvPr/>
        </p:nvSpPr>
        <p:spPr>
          <a:xfrm>
            <a:off x="0" y="3519659"/>
            <a:ext cx="3970350" cy="338554"/>
          </a:xfrm>
          <a:prstGeom prst="rect">
            <a:avLst/>
          </a:prstGeom>
          <a:noFill/>
        </p:spPr>
        <p:txBody>
          <a:bodyPr wrap="square" rtlCol="0">
            <a:spAutoFit/>
          </a:bodyPr>
          <a:lstStyle/>
          <a:p>
            <a:r>
              <a:rPr lang="en-US" sz="1600">
                <a:solidFill>
                  <a:srgbClr val="5A4094"/>
                </a:solidFill>
                <a:latin typeface="Poppins" panose="00000500000000000000" pitchFamily="2" charset="0"/>
                <a:cs typeface="Poppins" panose="00000500000000000000" pitchFamily="2" charset="0"/>
              </a:rPr>
              <a:t>Future to be used references</a:t>
            </a:r>
          </a:p>
        </p:txBody>
      </p:sp>
      <p:sp>
        <p:nvSpPr>
          <p:cNvPr id="11" name="TextBox 10">
            <a:extLst>
              <a:ext uri="{FF2B5EF4-FFF2-40B4-BE49-F238E27FC236}">
                <a16:creationId xmlns:a16="http://schemas.microsoft.com/office/drawing/2014/main" id="{4B78DFA8-C286-9963-75A5-5857406445E7}"/>
              </a:ext>
            </a:extLst>
          </p:cNvPr>
          <p:cNvSpPr txBox="1"/>
          <p:nvPr/>
        </p:nvSpPr>
        <p:spPr>
          <a:xfrm>
            <a:off x="6094396" y="1526789"/>
            <a:ext cx="6097604" cy="1169551"/>
          </a:xfrm>
          <a:prstGeom prst="rect">
            <a:avLst/>
          </a:prstGeom>
          <a:noFill/>
        </p:spPr>
        <p:txBody>
          <a:bodyPr wrap="square">
            <a:spAutoFit/>
          </a:bodyPr>
          <a:lstStyle/>
          <a:p>
            <a:pPr marL="342900" indent="-342900">
              <a:buFont typeface="+mj-lt"/>
              <a:buAutoNum type="arabicPeriod" startAt="7"/>
            </a:pPr>
            <a:r>
              <a:rPr lang="en-GB" sz="1400" b="0" i="0">
                <a:solidFill>
                  <a:schemeClr val="bg1"/>
                </a:solidFill>
                <a:effectLst/>
                <a:latin typeface="Poppins" panose="00000500000000000000" pitchFamily="2" charset="0"/>
                <a:cs typeface="Poppins" panose="00000500000000000000" pitchFamily="2" charset="0"/>
              </a:rPr>
              <a:t>Merck Sharp &amp; Dohme guidelines</a:t>
            </a:r>
            <a:endParaRPr lang="en-US" sz="1400" b="0" i="0">
              <a:solidFill>
                <a:schemeClr val="bg1"/>
              </a:solidFill>
              <a:effectLst/>
              <a:latin typeface="Poppins" panose="00000500000000000000" pitchFamily="2" charset="0"/>
              <a:cs typeface="Poppins" panose="00000500000000000000" pitchFamily="2" charset="0"/>
            </a:endParaRPr>
          </a:p>
          <a:p>
            <a:pPr marL="342900" indent="-342900">
              <a:buFont typeface="+mj-lt"/>
              <a:buAutoNum type="arabicPeriod" startAt="7"/>
            </a:pPr>
            <a:r>
              <a:rPr lang="en-US" sz="1400" err="1">
                <a:solidFill>
                  <a:schemeClr val="bg1"/>
                </a:solidFill>
                <a:latin typeface="Poppins" panose="00000500000000000000" pitchFamily="2" charset="0"/>
                <a:ea typeface="Aptos" panose="020B0004020202020204" pitchFamily="34" charset="0"/>
                <a:cs typeface="Poppins" panose="00000500000000000000" pitchFamily="2" charset="0"/>
              </a:rPr>
              <a:t>MedScape</a:t>
            </a:r>
            <a:r>
              <a:rPr lang="en-US" sz="1400">
                <a:solidFill>
                  <a:schemeClr val="bg1"/>
                </a:solidFill>
                <a:latin typeface="Poppins" panose="00000500000000000000" pitchFamily="2" charset="0"/>
                <a:ea typeface="Aptos" panose="020B0004020202020204" pitchFamily="34" charset="0"/>
                <a:cs typeface="Poppins" panose="00000500000000000000" pitchFamily="2" charset="0"/>
              </a:rPr>
              <a:t> guidelines </a:t>
            </a:r>
          </a:p>
          <a:p>
            <a:pPr marL="342900" indent="-342900">
              <a:buFont typeface="+mj-lt"/>
              <a:buAutoNum type="arabicPeriod" startAt="7"/>
            </a:pPr>
            <a:r>
              <a:rPr lang="en-US" sz="1400">
                <a:solidFill>
                  <a:schemeClr val="bg1"/>
                </a:solidFill>
                <a:latin typeface="Poppins" panose="00000500000000000000" pitchFamily="2" charset="0"/>
                <a:cs typeface="Poppins" panose="00000500000000000000" pitchFamily="2" charset="0"/>
              </a:rPr>
              <a:t>Drug.com Guidelines</a:t>
            </a:r>
          </a:p>
          <a:p>
            <a:pPr marL="342900" indent="-342900">
              <a:buFont typeface="+mj-lt"/>
              <a:buAutoNum type="arabicPeriod" startAt="7"/>
            </a:pPr>
            <a:r>
              <a:rPr lang="en-US" sz="1400">
                <a:solidFill>
                  <a:schemeClr val="bg1"/>
                </a:solidFill>
                <a:latin typeface="Poppins" panose="00000500000000000000" pitchFamily="2" charset="0"/>
                <a:cs typeface="Poppins" panose="00000500000000000000" pitchFamily="2" charset="0"/>
              </a:rPr>
              <a:t>Medline plus guidelines </a:t>
            </a:r>
          </a:p>
          <a:p>
            <a:pPr marL="342900" indent="-342900">
              <a:buFont typeface="+mj-lt"/>
              <a:buAutoNum type="arabicPeriod" startAt="7"/>
            </a:pPr>
            <a:r>
              <a:rPr lang="en-US" sz="1400">
                <a:solidFill>
                  <a:schemeClr val="bg1"/>
                </a:solidFill>
                <a:latin typeface="Poppins" panose="00000500000000000000" pitchFamily="2" charset="0"/>
                <a:cs typeface="Poppins" panose="00000500000000000000" pitchFamily="2" charset="0"/>
              </a:rPr>
              <a:t>WHO ATC/DDD medication</a:t>
            </a:r>
            <a:endParaRPr lang="en-US" sz="1400">
              <a:solidFill>
                <a:schemeClr val="bg1"/>
              </a:solidFill>
              <a:effectLst/>
              <a:latin typeface="Poppins" panose="00000500000000000000" pitchFamily="2" charset="0"/>
              <a:ea typeface="Aptos" panose="020B0004020202020204" pitchFamily="34" charset="0"/>
              <a:cs typeface="Poppins" panose="00000500000000000000" pitchFamily="2" charset="0"/>
            </a:endParaRPr>
          </a:p>
        </p:txBody>
      </p:sp>
    </p:spTree>
    <p:extLst>
      <p:ext uri="{BB962C8B-B14F-4D97-AF65-F5344CB8AC3E}">
        <p14:creationId xmlns:p14="http://schemas.microsoft.com/office/powerpoint/2010/main" val="24540889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4">
            <a:extLst>
              <a:ext uri="{FF2B5EF4-FFF2-40B4-BE49-F238E27FC236}">
                <a16:creationId xmlns:a16="http://schemas.microsoft.com/office/drawing/2014/main" id="{09693F5E-96F4-6AC7-95F2-1322007E0585}"/>
              </a:ext>
            </a:extLst>
          </p:cNvPr>
          <p:cNvSpPr/>
          <p:nvPr/>
        </p:nvSpPr>
        <p:spPr>
          <a:xfrm>
            <a:off x="1158076" y="3815729"/>
            <a:ext cx="3989960" cy="2322508"/>
          </a:xfrm>
          <a:prstGeom prst="roundRect">
            <a:avLst>
              <a:gd name="adj" fmla="val 5577"/>
            </a:avLst>
          </a:prstGeom>
          <a:solidFill>
            <a:srgbClr val="FFFFFF"/>
          </a:solidFill>
          <a:ln w="25400" cap="flat" cmpd="sng" algn="ctr">
            <a:noFill/>
            <a:prstDash val="solid"/>
          </a:ln>
          <a:effectLst>
            <a:outerShdw blurRad="127000" dist="12700" dir="600000" algn="tl" rotWithShape="0">
              <a:srgbClr val="201547">
                <a:lumMod val="75000"/>
                <a:lumOff val="25000"/>
                <a:alpha val="38000"/>
              </a:srgbClr>
            </a:outerShdw>
          </a:effectLst>
        </p:spPr>
        <p:txBody>
          <a:bodyPr lIns="91440" tIns="45720" rIns="9144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lumMod val="50000"/>
                  <a:lumOff val="50000"/>
                </a:prstClr>
              </a:solidFill>
              <a:effectLst/>
              <a:uLnTx/>
              <a:uFillTx/>
              <a:latin typeface="Open Sans"/>
              <a:ea typeface="+mn-ea"/>
              <a:cs typeface="+mn-cs"/>
              <a:sym typeface="Arial"/>
            </a:endParaRPr>
          </a:p>
          <a:p>
            <a:pPr algn="ctr">
              <a:defRPr/>
            </a:pPr>
            <a:endParaRPr lang="en-US" kern="0">
              <a:ea typeface="Open Sans"/>
              <a:cs typeface="Open Sans"/>
            </a:endParaRPr>
          </a:p>
          <a:p>
            <a:pPr algn="ctr">
              <a:defRPr/>
            </a:pPr>
            <a:endParaRPr lang="en-US" sz="1400" kern="0">
              <a:ea typeface="Open Sans"/>
              <a:cs typeface="Open Sans"/>
            </a:endParaRPr>
          </a:p>
        </p:txBody>
      </p:sp>
      <p:sp>
        <p:nvSpPr>
          <p:cNvPr id="37" name="Freeform 4">
            <a:extLst>
              <a:ext uri="{FF2B5EF4-FFF2-40B4-BE49-F238E27FC236}">
                <a16:creationId xmlns:a16="http://schemas.microsoft.com/office/drawing/2014/main" id="{97381657-9CAA-E189-BA12-59C213542A15}"/>
              </a:ext>
            </a:extLst>
          </p:cNvPr>
          <p:cNvSpPr/>
          <p:nvPr/>
        </p:nvSpPr>
        <p:spPr>
          <a:xfrm>
            <a:off x="6712665" y="3815729"/>
            <a:ext cx="3989960" cy="2322508"/>
          </a:xfrm>
          <a:prstGeom prst="roundRect">
            <a:avLst>
              <a:gd name="adj" fmla="val 5577"/>
            </a:avLst>
          </a:prstGeom>
          <a:solidFill>
            <a:srgbClr val="FFFFFF"/>
          </a:solidFill>
          <a:ln w="25400" cap="flat" cmpd="sng" algn="ctr">
            <a:noFill/>
            <a:prstDash val="solid"/>
          </a:ln>
          <a:effectLst>
            <a:outerShdw blurRad="127000" dist="12700" dir="600000" algn="tl" rotWithShape="0">
              <a:srgbClr val="201547">
                <a:lumMod val="75000"/>
                <a:lumOff val="25000"/>
                <a:alpha val="38000"/>
              </a:srgbClr>
            </a:outerShdw>
          </a:effectLst>
        </p:spPr>
        <p:txBody>
          <a:bodyPr lIns="91440" tIns="45720" rIns="91440" bIns="45720"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lumMod val="50000"/>
                  <a:lumOff val="50000"/>
                </a:prstClr>
              </a:solidFill>
              <a:effectLst/>
              <a:uLnTx/>
              <a:uFillTx/>
              <a:latin typeface="Open Sans"/>
              <a:ea typeface="+mn-ea"/>
              <a:cs typeface="+mn-cs"/>
              <a:sym typeface="Arial"/>
            </a:endParaRPr>
          </a:p>
          <a:p>
            <a:pPr algn="ctr">
              <a:defRPr/>
            </a:pPr>
            <a:endParaRPr lang="en-US" kern="0">
              <a:ea typeface="Open Sans"/>
              <a:cs typeface="Open Sans"/>
            </a:endParaRPr>
          </a:p>
          <a:p>
            <a:pPr algn="ctr">
              <a:defRPr/>
            </a:pPr>
            <a:endParaRPr lang="en-US" sz="1400" kern="0">
              <a:ea typeface="Open Sans"/>
              <a:cs typeface="Open Sans"/>
            </a:endParaRPr>
          </a:p>
        </p:txBody>
      </p:sp>
      <p:sp>
        <p:nvSpPr>
          <p:cNvPr id="6" name="TextBox 13">
            <a:extLst>
              <a:ext uri="{FF2B5EF4-FFF2-40B4-BE49-F238E27FC236}">
                <a16:creationId xmlns:a16="http://schemas.microsoft.com/office/drawing/2014/main" id="{BFEB5060-9C1B-874D-54D4-CC3B74A6227B}"/>
              </a:ext>
            </a:extLst>
          </p:cNvPr>
          <p:cNvSpPr txBox="1"/>
          <p:nvPr/>
        </p:nvSpPr>
        <p:spPr>
          <a:xfrm>
            <a:off x="1324256" y="1417113"/>
            <a:ext cx="3754954" cy="230832"/>
          </a:xfrm>
          <a:prstGeom prst="rect">
            <a:avLst/>
          </a:prstGeom>
        </p:spPr>
        <p:txBody>
          <a:bodyPr wrap="square" lIns="0" tIns="0" rIns="0" bIns="0" rtlCol="0" anchor="t">
            <a:spAutoFit/>
          </a:bodyPr>
          <a:lstStyle/>
          <a:p>
            <a:pPr algn="ctr"/>
            <a:r>
              <a:rPr lang="en-US" sz="1500" b="1" spc="-9" dirty="0">
                <a:solidFill>
                  <a:schemeClr val="bg1"/>
                </a:solidFill>
                <a:latin typeface="Poppins" panose="00000500000000000000" pitchFamily="2" charset="0"/>
                <a:cs typeface="Poppins" panose="00000500000000000000" pitchFamily="2" charset="0"/>
              </a:rPr>
              <a:t>Insights about medication utilization</a:t>
            </a:r>
          </a:p>
        </p:txBody>
      </p:sp>
      <p:sp>
        <p:nvSpPr>
          <p:cNvPr id="7" name="TextBox 14">
            <a:extLst>
              <a:ext uri="{FF2B5EF4-FFF2-40B4-BE49-F238E27FC236}">
                <a16:creationId xmlns:a16="http://schemas.microsoft.com/office/drawing/2014/main" id="{9DA93EDE-93F2-D16A-3627-368D6370F1EF}"/>
              </a:ext>
            </a:extLst>
          </p:cNvPr>
          <p:cNvSpPr txBox="1"/>
          <p:nvPr/>
        </p:nvSpPr>
        <p:spPr>
          <a:xfrm>
            <a:off x="1324256" y="2048649"/>
            <a:ext cx="3657600" cy="1592744"/>
          </a:xfrm>
          <a:prstGeom prst="rect">
            <a:avLst/>
          </a:prstGeom>
        </p:spPr>
        <p:txBody>
          <a:bodyPr wrap="square" lIns="0" tIns="0" rIns="0" bIns="0" rtlCol="0" anchor="t">
            <a:spAutoFit/>
          </a:bodyPr>
          <a:lstStyle/>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Helicopter view of medication and pharmacy utilization trends over time, providing in-depth understanding of usage patterns</a:t>
            </a:r>
          </a:p>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The dashboard offer insights into network utilization, medication classes, rejection per provider, associated diagnoses, and others</a:t>
            </a:r>
          </a:p>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It enable users to drill down into specific performance metrics, pharmacies, or therapeutic categories</a:t>
            </a:r>
            <a:endParaRPr lang="en-GB" sz="1150" spc="35" dirty="0">
              <a:solidFill>
                <a:schemeClr val="bg1"/>
              </a:solidFill>
              <a:latin typeface="Poppins" panose="00000500000000000000" pitchFamily="2" charset="0"/>
              <a:ea typeface="Lato" panose="020F0502020204030203" pitchFamily="34" charset="0"/>
              <a:cs typeface="Poppins" panose="00000500000000000000" pitchFamily="2" charset="0"/>
            </a:endParaRPr>
          </a:p>
        </p:txBody>
      </p:sp>
      <p:sp>
        <p:nvSpPr>
          <p:cNvPr id="11" name="TextBox 10">
            <a:extLst>
              <a:ext uri="{FF2B5EF4-FFF2-40B4-BE49-F238E27FC236}">
                <a16:creationId xmlns:a16="http://schemas.microsoft.com/office/drawing/2014/main" id="{2AB4B347-AE47-0E34-13AE-D9BDEFD0E92A}"/>
              </a:ext>
            </a:extLst>
          </p:cNvPr>
          <p:cNvSpPr txBox="1"/>
          <p:nvPr/>
        </p:nvSpPr>
        <p:spPr>
          <a:xfrm>
            <a:off x="6617337" y="1417113"/>
            <a:ext cx="3863850" cy="323165"/>
          </a:xfrm>
          <a:prstGeom prst="rect">
            <a:avLst/>
          </a:prstGeom>
          <a:noFill/>
        </p:spPr>
        <p:txBody>
          <a:bodyPr wrap="square">
            <a:spAutoFit/>
          </a:bodyPr>
          <a:lstStyle/>
          <a:p>
            <a:pPr algn="ctr"/>
            <a:r>
              <a:rPr lang="en-US" sz="1500" b="1" dirty="0">
                <a:solidFill>
                  <a:schemeClr val="bg1"/>
                </a:solidFill>
                <a:latin typeface="Poppins" panose="00000500000000000000" pitchFamily="2" charset="0"/>
                <a:cs typeface="Poppins" panose="00000500000000000000" pitchFamily="2" charset="0"/>
              </a:rPr>
              <a:t>Monitor drug utilization review </a:t>
            </a:r>
            <a:endParaRPr lang="en-GB" sz="1500" dirty="0">
              <a:solidFill>
                <a:schemeClr val="bg1"/>
              </a:solidFill>
              <a:latin typeface="Poppins" panose="00000500000000000000" pitchFamily="2" charset="0"/>
              <a:cs typeface="Poppins" panose="00000500000000000000" pitchFamily="2" charset="0"/>
            </a:endParaRPr>
          </a:p>
        </p:txBody>
      </p:sp>
      <p:sp>
        <p:nvSpPr>
          <p:cNvPr id="12" name="TextBox 11">
            <a:extLst>
              <a:ext uri="{FF2B5EF4-FFF2-40B4-BE49-F238E27FC236}">
                <a16:creationId xmlns:a16="http://schemas.microsoft.com/office/drawing/2014/main" id="{ED1D6CE6-39AB-3A2D-9F38-9DDEF594296B}"/>
              </a:ext>
            </a:extLst>
          </p:cNvPr>
          <p:cNvSpPr txBox="1"/>
          <p:nvPr/>
        </p:nvSpPr>
        <p:spPr>
          <a:xfrm>
            <a:off x="6712665" y="2048649"/>
            <a:ext cx="3657600" cy="1508105"/>
          </a:xfrm>
          <a:prstGeom prst="rect">
            <a:avLst/>
          </a:prstGeom>
          <a:noFill/>
        </p:spPr>
        <p:txBody>
          <a:bodyPr wrap="square">
            <a:spAutoFit/>
          </a:bodyPr>
          <a:lstStyle/>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Explore drug categories and their interrelationships (inter-class and intra-class utilization)</a:t>
            </a:r>
          </a:p>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Track controlled, high-cost and high-alert medications across claims and authorizations</a:t>
            </a:r>
          </a:p>
          <a:p>
            <a:pPr marL="115888" indent="-115888">
              <a:spcBef>
                <a:spcPct val="0"/>
              </a:spcBef>
              <a:buFont typeface="Arial" panose="020B0604020202020204" pitchFamily="34" charset="0"/>
              <a:buChar char="•"/>
            </a:pPr>
            <a:r>
              <a:rPr lang="en-US" sz="1150" spc="35" dirty="0">
                <a:solidFill>
                  <a:schemeClr val="bg1"/>
                </a:solidFill>
                <a:latin typeface="Poppins" panose="00000500000000000000" pitchFamily="2" charset="0"/>
                <a:ea typeface="Lato" panose="020F0502020204030203" pitchFamily="34" charset="0"/>
                <a:cs typeface="Poppins" panose="00000500000000000000" pitchFamily="2" charset="0"/>
              </a:rPr>
              <a:t>Detailed insights into the various types of generics and their consumption patterns</a:t>
            </a:r>
          </a:p>
        </p:txBody>
      </p:sp>
      <p:sp>
        <p:nvSpPr>
          <p:cNvPr id="2" name="TextBox 1">
            <a:extLst>
              <a:ext uri="{FF2B5EF4-FFF2-40B4-BE49-F238E27FC236}">
                <a16:creationId xmlns:a16="http://schemas.microsoft.com/office/drawing/2014/main" id="{BDC534DE-49E7-6898-B794-C6B78160D6E2}"/>
              </a:ext>
            </a:extLst>
          </p:cNvPr>
          <p:cNvSpPr txBox="1"/>
          <p:nvPr/>
        </p:nvSpPr>
        <p:spPr>
          <a:xfrm>
            <a:off x="0" y="165559"/>
            <a:ext cx="7215437" cy="1077218"/>
          </a:xfrm>
          <a:prstGeom prst="rect">
            <a:avLst/>
          </a:prstGeom>
          <a:noFill/>
        </p:spPr>
        <p:txBody>
          <a:bodyPr wrap="none" rtlCol="0">
            <a:spAutoFit/>
          </a:bodyPr>
          <a:lstStyle/>
          <a:p>
            <a:r>
              <a:rPr lang="en-US" sz="3200" b="1" dirty="0">
                <a:solidFill>
                  <a:schemeClr val="bg1"/>
                </a:solidFill>
                <a:latin typeface="Poppins" pitchFamily="2" charset="77"/>
                <a:ea typeface="Inter SemiBold" panose="020B0502030000000004" pitchFamily="34" charset="0"/>
                <a:cs typeface="Poppins" pitchFamily="2" charset="77"/>
              </a:rPr>
              <a:t>Interactive Analytical Dashboard</a:t>
            </a:r>
          </a:p>
          <a:p>
            <a:r>
              <a:rPr lang="en-US" sz="1600" b="1" dirty="0">
                <a:solidFill>
                  <a:schemeClr val="bg1"/>
                </a:solidFill>
                <a:latin typeface="Poppins" pitchFamily="2" charset="77"/>
                <a:ea typeface="Inter SemiBold" panose="020B0502030000000004" pitchFamily="34" charset="0"/>
                <a:cs typeface="Poppins" pitchFamily="2" charset="77"/>
              </a:rPr>
              <a:t>      Real-time and modular dashboard</a:t>
            </a:r>
            <a:r>
              <a:rPr lang="en-US" sz="3200" b="1" dirty="0">
                <a:solidFill>
                  <a:schemeClr val="bg1"/>
                </a:solidFill>
                <a:latin typeface="Poppins" pitchFamily="2" charset="77"/>
                <a:ea typeface="Inter SemiBold" panose="020B0502030000000004" pitchFamily="34" charset="0"/>
                <a:cs typeface="Poppins" pitchFamily="2" charset="77"/>
              </a:rPr>
              <a:t> </a:t>
            </a:r>
          </a:p>
        </p:txBody>
      </p:sp>
      <p:pic>
        <p:nvPicPr>
          <p:cNvPr id="4" name="Picture 3">
            <a:extLst>
              <a:ext uri="{FF2B5EF4-FFF2-40B4-BE49-F238E27FC236}">
                <a16:creationId xmlns:a16="http://schemas.microsoft.com/office/drawing/2014/main" id="{F5291C5C-92F5-1AA8-BB8B-AE95F58FCA8E}"/>
              </a:ext>
            </a:extLst>
          </p:cNvPr>
          <p:cNvPicPr>
            <a:picLocks noChangeAspect="1"/>
          </p:cNvPicPr>
          <p:nvPr/>
        </p:nvPicPr>
        <p:blipFill>
          <a:blip r:embed="rId3"/>
          <a:stretch>
            <a:fillRect/>
          </a:stretch>
        </p:blipFill>
        <p:spPr>
          <a:xfrm>
            <a:off x="1249516" y="3928592"/>
            <a:ext cx="3829694" cy="2012801"/>
          </a:xfrm>
          <a:prstGeom prst="rect">
            <a:avLst/>
          </a:prstGeom>
        </p:spPr>
      </p:pic>
      <p:pic>
        <p:nvPicPr>
          <p:cNvPr id="8" name="Picture 7">
            <a:extLst>
              <a:ext uri="{FF2B5EF4-FFF2-40B4-BE49-F238E27FC236}">
                <a16:creationId xmlns:a16="http://schemas.microsoft.com/office/drawing/2014/main" id="{A0A1FD58-2A38-CFBF-22B7-930B26AE851A}"/>
              </a:ext>
            </a:extLst>
          </p:cNvPr>
          <p:cNvPicPr>
            <a:picLocks noChangeAspect="1"/>
          </p:cNvPicPr>
          <p:nvPr/>
        </p:nvPicPr>
        <p:blipFill>
          <a:blip r:embed="rId4"/>
          <a:stretch>
            <a:fillRect/>
          </a:stretch>
        </p:blipFill>
        <p:spPr>
          <a:xfrm>
            <a:off x="6867862" y="3928592"/>
            <a:ext cx="3743323" cy="2127888"/>
          </a:xfrm>
          <a:prstGeom prst="rect">
            <a:avLst/>
          </a:prstGeom>
        </p:spPr>
      </p:pic>
    </p:spTree>
    <p:extLst>
      <p:ext uri="{BB962C8B-B14F-4D97-AF65-F5344CB8AC3E}">
        <p14:creationId xmlns:p14="http://schemas.microsoft.com/office/powerpoint/2010/main" val="423620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C9E27939-3839-0743-82E4-4318DCE67CC3}"/>
              </a:ext>
            </a:extLst>
          </p:cNvPr>
          <p:cNvPicPr>
            <a:picLocks noChangeAspect="1"/>
          </p:cNvPicPr>
          <p:nvPr/>
        </p:nvPicPr>
        <p:blipFill>
          <a:blip r:embed="rId2"/>
          <a:srcRect r="23273" b="1"/>
          <a:stretch>
            <a:fillRect/>
          </a:stretch>
        </p:blipFill>
        <p:spPr>
          <a:xfrm>
            <a:off x="2321272" y="1242777"/>
            <a:ext cx="6861195" cy="2839151"/>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8" name="TextBox 7">
            <a:extLst>
              <a:ext uri="{FF2B5EF4-FFF2-40B4-BE49-F238E27FC236}">
                <a16:creationId xmlns:a16="http://schemas.microsoft.com/office/drawing/2014/main" id="{1645FCC1-63DB-AA98-5D7A-1133E7DC4B82}"/>
              </a:ext>
            </a:extLst>
          </p:cNvPr>
          <p:cNvSpPr txBox="1"/>
          <p:nvPr/>
        </p:nvSpPr>
        <p:spPr>
          <a:xfrm>
            <a:off x="0" y="165559"/>
            <a:ext cx="8276625" cy="1077218"/>
          </a:xfrm>
          <a:prstGeom prst="rect">
            <a:avLst/>
          </a:prstGeom>
          <a:noFill/>
        </p:spPr>
        <p:txBody>
          <a:bodyPr wrap="none" rtlCol="0">
            <a:spAutoFit/>
          </a:bodyPr>
          <a:lstStyle/>
          <a:p>
            <a:r>
              <a:rPr lang="en-US" sz="3200" b="1" dirty="0">
                <a:solidFill>
                  <a:schemeClr val="bg1"/>
                </a:solidFill>
                <a:latin typeface="Poppins" pitchFamily="2" charset="77"/>
                <a:ea typeface="Inter SemiBold" panose="020B0502030000000004" pitchFamily="34" charset="0"/>
                <a:cs typeface="Poppins" pitchFamily="2" charset="77"/>
              </a:rPr>
              <a:t>QA Medication Validation Tool For POC</a:t>
            </a:r>
          </a:p>
          <a:p>
            <a:endParaRPr lang="en-US" sz="3200" b="1" dirty="0">
              <a:solidFill>
                <a:schemeClr val="bg1"/>
              </a:solidFill>
              <a:latin typeface="Poppins" pitchFamily="2" charset="77"/>
              <a:ea typeface="Inter SemiBold" panose="020B0502030000000004" pitchFamily="34" charset="0"/>
              <a:cs typeface="Poppins" pitchFamily="2" charset="77"/>
            </a:endParaRPr>
          </a:p>
        </p:txBody>
      </p:sp>
      <p:sp>
        <p:nvSpPr>
          <p:cNvPr id="12" name="Rectangle: Rounded Corners 22">
            <a:extLst>
              <a:ext uri="{FF2B5EF4-FFF2-40B4-BE49-F238E27FC236}">
                <a16:creationId xmlns:a16="http://schemas.microsoft.com/office/drawing/2014/main" id="{BD65CE58-BA9B-BDA4-81FF-5249ACD508D8}"/>
              </a:ext>
            </a:extLst>
          </p:cNvPr>
          <p:cNvSpPr/>
          <p:nvPr/>
        </p:nvSpPr>
        <p:spPr>
          <a:xfrm>
            <a:off x="1440429" y="4741357"/>
            <a:ext cx="9311142" cy="1586204"/>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sz="1100" dirty="0">
              <a:solidFill>
                <a:schemeClr val="bg1"/>
              </a:solidFill>
              <a:latin typeface="Poppins" panose="00000500000000000000" pitchFamily="2" charset="0"/>
              <a:cs typeface="Poppins" panose="00000500000000000000" pitchFamily="2" charset="0"/>
            </a:endParaRPr>
          </a:p>
          <a:p>
            <a:pPr algn="ctr"/>
            <a:endParaRPr lang="en-US" sz="1100" dirty="0">
              <a:solidFill>
                <a:schemeClr val="bg1"/>
              </a:solidFill>
              <a:latin typeface="Poppins" panose="00000500000000000000" pitchFamily="2" charset="0"/>
              <a:cs typeface="Poppins" panose="00000500000000000000" pitchFamily="2" charset="0"/>
            </a:endParaRPr>
          </a:p>
          <a:p>
            <a:r>
              <a:rPr lang="en-US" sz="1400" dirty="0" err="1">
                <a:solidFill>
                  <a:schemeClr val="bg1"/>
                </a:solidFill>
                <a:latin typeface="Poppins" panose="00000500000000000000" pitchFamily="2" charset="0"/>
                <a:cs typeface="Poppins" panose="00000500000000000000" pitchFamily="2" charset="0"/>
              </a:rPr>
              <a:t>AiPharma</a:t>
            </a:r>
            <a:r>
              <a:rPr lang="en-US" sz="1400" dirty="0">
                <a:solidFill>
                  <a:schemeClr val="bg1"/>
                </a:solidFill>
                <a:latin typeface="Poppins" panose="00000500000000000000" pitchFamily="2" charset="0"/>
                <a:cs typeface="Poppins" panose="00000500000000000000" pitchFamily="2" charset="0"/>
              </a:rPr>
              <a:t> QA Tool automatically checks your medication data sample using the same rules defined in our API documentation, and validates each record with the same backend engine we use in production for claims and medication checks. You then get instant feedback with analytics, and the processed file is sent to your email within seconds.</a:t>
            </a:r>
          </a:p>
        </p:txBody>
      </p:sp>
    </p:spTree>
    <p:extLst>
      <p:ext uri="{BB962C8B-B14F-4D97-AF65-F5344CB8AC3E}">
        <p14:creationId xmlns:p14="http://schemas.microsoft.com/office/powerpoint/2010/main" val="20936049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F807795E-F4EE-5AB5-854F-D9961AA39C85}"/>
              </a:ext>
            </a:extLst>
          </p:cNvPr>
          <p:cNvSpPr/>
          <p:nvPr/>
        </p:nvSpPr>
        <p:spPr>
          <a:xfrm>
            <a:off x="279810" y="1148563"/>
            <a:ext cx="11455397" cy="1519753"/>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Core &amp; Provider: </a:t>
            </a:r>
            <a:r>
              <a:rPr lang="en-US" sz="1200" dirty="0" err="1">
                <a:solidFill>
                  <a:schemeClr val="bg1"/>
                </a:solidFill>
                <a:latin typeface="Poppins" panose="00000500000000000000" pitchFamily="2" charset="0"/>
                <a:cs typeface="Poppins" panose="00000500000000000000" pitchFamily="2" charset="0"/>
              </a:rPr>
              <a:t>bundleId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requestType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prescriptionPhysicianID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prescriptionFacilityID</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Patient &amp; Policy: </a:t>
            </a:r>
            <a:r>
              <a:rPr lang="en-US" sz="1200" dirty="0" err="1">
                <a:solidFill>
                  <a:schemeClr val="bg1"/>
                </a:solidFill>
                <a:latin typeface="Poppins" panose="00000500000000000000" pitchFamily="2" charset="0"/>
                <a:cs typeface="Poppins" panose="00000500000000000000" pitchFamily="2" charset="0"/>
              </a:rPr>
              <a:t>patientID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dateOfBirth</a:t>
            </a:r>
            <a:r>
              <a:rPr lang="en-US" sz="1200" dirty="0">
                <a:solidFill>
                  <a:schemeClr val="bg1"/>
                </a:solidFill>
                <a:latin typeface="Poppins" panose="00000500000000000000" pitchFamily="2" charset="0"/>
                <a:cs typeface="Poppins" panose="00000500000000000000" pitchFamily="2" charset="0"/>
              </a:rPr>
              <a:t>, gender, </a:t>
            </a:r>
            <a:r>
              <a:rPr lang="en-US" sz="1200" dirty="0" err="1">
                <a:solidFill>
                  <a:schemeClr val="bg1"/>
                </a:solidFill>
                <a:latin typeface="Poppins" panose="00000500000000000000" pitchFamily="2" charset="0"/>
                <a:cs typeface="Poppins" panose="00000500000000000000" pitchFamily="2" charset="0"/>
              </a:rPr>
              <a:t>policyNumber</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policyEffectiveDate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policyExpiryDate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dateOfPrescription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isNewBorn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isMaternity</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Diagnosis: </a:t>
            </a:r>
            <a:r>
              <a:rPr lang="en-US" sz="1200" dirty="0" err="1">
                <a:solidFill>
                  <a:schemeClr val="bg1"/>
                </a:solidFill>
                <a:latin typeface="Poppins" panose="00000500000000000000" pitchFamily="2" charset="0"/>
                <a:cs typeface="Poppins" panose="00000500000000000000" pitchFamily="2" charset="0"/>
              </a:rPr>
              <a:t>primaryDiagnosisCode</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err="1">
                <a:solidFill>
                  <a:schemeClr val="bg1"/>
                </a:solidFill>
                <a:latin typeface="Poppins" panose="00000500000000000000" pitchFamily="2" charset="0"/>
                <a:cs typeface="Poppins" panose="00000500000000000000" pitchFamily="2" charset="0"/>
              </a:rPr>
              <a:t>Medications:drugCode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drugGTINCoderefillCountserviceLineNo</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quantitydurationOfTherapy</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durationOfTherapyUnitfrequency</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frequencyUnitstrength</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strengthUnit</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routeOfAdministration</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Medical Devices (if any): </a:t>
            </a:r>
            <a:r>
              <a:rPr lang="en-US" sz="1200" dirty="0" err="1">
                <a:solidFill>
                  <a:schemeClr val="bg1"/>
                </a:solidFill>
                <a:latin typeface="Poppins" panose="00000500000000000000" pitchFamily="2" charset="0"/>
                <a:cs typeface="Poppins" panose="00000500000000000000" pitchFamily="2" charset="0"/>
              </a:rPr>
              <a:t>deviceDescription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serviceLineNo</a:t>
            </a:r>
            <a:endParaRPr lang="en-US" sz="1100" dirty="0">
              <a:solidFill>
                <a:schemeClr val="bg1"/>
              </a:solidFill>
              <a:latin typeface="Poppins" panose="00000500000000000000" pitchFamily="2" charset="0"/>
              <a:cs typeface="Poppins" panose="00000500000000000000" pitchFamily="2" charset="0"/>
            </a:endParaRPr>
          </a:p>
        </p:txBody>
      </p:sp>
      <p:sp>
        <p:nvSpPr>
          <p:cNvPr id="4" name="Rectangle: Rounded Corners 3">
            <a:extLst>
              <a:ext uri="{FF2B5EF4-FFF2-40B4-BE49-F238E27FC236}">
                <a16:creationId xmlns:a16="http://schemas.microsoft.com/office/drawing/2014/main" id="{DAC3AD18-8520-A7D8-F285-2FC71636EC12}"/>
              </a:ext>
            </a:extLst>
          </p:cNvPr>
          <p:cNvSpPr/>
          <p:nvPr/>
        </p:nvSpPr>
        <p:spPr>
          <a:xfrm>
            <a:off x="279809" y="3101900"/>
            <a:ext cx="11455397" cy="1519753"/>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Core &amp; Provider: </a:t>
            </a:r>
            <a:r>
              <a:rPr lang="en-US" sz="1200" dirty="0" err="1">
                <a:solidFill>
                  <a:schemeClr val="bg1"/>
                </a:solidFill>
                <a:latin typeface="Poppins" panose="00000500000000000000" pitchFamily="2" charset="0"/>
                <a:cs typeface="Poppins" panose="00000500000000000000" pitchFamily="2" charset="0"/>
              </a:rPr>
              <a:t>bundleId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requestType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prescriptionFacilityID</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Patient &amp; Policy: </a:t>
            </a:r>
            <a:r>
              <a:rPr lang="en-US" sz="1200" dirty="0" err="1">
                <a:solidFill>
                  <a:schemeClr val="bg1"/>
                </a:solidFill>
                <a:latin typeface="Poppins" panose="00000500000000000000" pitchFamily="2" charset="0"/>
                <a:cs typeface="Poppins" panose="00000500000000000000" pitchFamily="2" charset="0"/>
              </a:rPr>
              <a:t>patientID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dateOfBirth</a:t>
            </a:r>
            <a:r>
              <a:rPr lang="en-US" sz="1200" dirty="0">
                <a:solidFill>
                  <a:schemeClr val="bg1"/>
                </a:solidFill>
                <a:latin typeface="Poppins" panose="00000500000000000000" pitchFamily="2" charset="0"/>
                <a:cs typeface="Poppins" panose="00000500000000000000" pitchFamily="2" charset="0"/>
              </a:rPr>
              <a:t>, gender, </a:t>
            </a:r>
            <a:r>
              <a:rPr lang="en-US" sz="1200" dirty="0" err="1">
                <a:solidFill>
                  <a:schemeClr val="bg1"/>
                </a:solidFill>
                <a:latin typeface="Poppins" panose="00000500000000000000" pitchFamily="2" charset="0"/>
                <a:cs typeface="Poppins" panose="00000500000000000000" pitchFamily="2" charset="0"/>
              </a:rPr>
              <a:t>policyNumber</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policyEffectiveDate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policyExpiryDate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dateOfPrescription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isNewBorn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isMaternity</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Diagnosis: </a:t>
            </a:r>
            <a:r>
              <a:rPr lang="en-US" sz="1200" dirty="0" err="1">
                <a:solidFill>
                  <a:schemeClr val="bg1"/>
                </a:solidFill>
                <a:latin typeface="Poppins" panose="00000500000000000000" pitchFamily="2" charset="0"/>
                <a:cs typeface="Poppins" panose="00000500000000000000" pitchFamily="2" charset="0"/>
              </a:rPr>
              <a:t>primaryDiagnosisCode</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err="1">
                <a:solidFill>
                  <a:schemeClr val="bg1"/>
                </a:solidFill>
                <a:latin typeface="Poppins" panose="00000500000000000000" pitchFamily="2" charset="0"/>
                <a:cs typeface="Poppins" panose="00000500000000000000" pitchFamily="2" charset="0"/>
              </a:rPr>
              <a:t>Medications:drugCode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drugGTINCodeunitPriceserviceLineNo</a:t>
            </a:r>
            <a:r>
              <a:rPr lang="en-US" sz="1200" dirty="0">
                <a:solidFill>
                  <a:schemeClr val="bg1"/>
                </a:solidFill>
                <a:latin typeface="Poppins" panose="00000500000000000000" pitchFamily="2" charset="0"/>
                <a:cs typeface="Poppins" panose="00000500000000000000" pitchFamily="2" charset="0"/>
              </a:rPr>
              <a:t>, quantity</a:t>
            </a: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Medical Devices (if any): </a:t>
            </a:r>
            <a:r>
              <a:rPr lang="en-US" sz="1200" dirty="0" err="1">
                <a:solidFill>
                  <a:schemeClr val="bg1"/>
                </a:solidFill>
                <a:latin typeface="Poppins" panose="00000500000000000000" pitchFamily="2" charset="0"/>
                <a:cs typeface="Poppins" panose="00000500000000000000" pitchFamily="2" charset="0"/>
              </a:rPr>
              <a:t>deviceDescription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unitPrice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patientShare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serviceLineNo</a:t>
            </a:r>
            <a:endParaRPr lang="en-US" sz="1200" dirty="0">
              <a:solidFill>
                <a:schemeClr val="bg1"/>
              </a:solidFill>
              <a:latin typeface="Poppins" panose="00000500000000000000" pitchFamily="2" charset="0"/>
              <a:cs typeface="Poppins" panose="00000500000000000000" pitchFamily="2" charset="0"/>
            </a:endParaRPr>
          </a:p>
        </p:txBody>
      </p:sp>
      <p:sp>
        <p:nvSpPr>
          <p:cNvPr id="5" name="Rectangle: Rounded Corners 4">
            <a:extLst>
              <a:ext uri="{FF2B5EF4-FFF2-40B4-BE49-F238E27FC236}">
                <a16:creationId xmlns:a16="http://schemas.microsoft.com/office/drawing/2014/main" id="{42172109-CF7C-2AEB-22DE-E113740994EB}"/>
              </a:ext>
            </a:extLst>
          </p:cNvPr>
          <p:cNvSpPr/>
          <p:nvPr/>
        </p:nvSpPr>
        <p:spPr>
          <a:xfrm>
            <a:off x="279808" y="5055237"/>
            <a:ext cx="11455397" cy="1519753"/>
          </a:xfrm>
          <a:prstGeom prst="roundRect">
            <a:avLst/>
          </a:prstGeom>
          <a:solidFill>
            <a:schemeClr val="bg1">
              <a:lumMod val="95000"/>
              <a:alpha val="20000"/>
            </a:schemeClr>
          </a:solidFill>
          <a:ln>
            <a:solidFill>
              <a:srgbClr val="EEEEEE"/>
            </a:solidFill>
          </a:ln>
        </p:spPr>
        <p:style>
          <a:lnRef idx="2">
            <a:schemeClr val="dk1"/>
          </a:lnRef>
          <a:fillRef idx="1">
            <a:schemeClr val="lt1"/>
          </a:fillRef>
          <a:effectRef idx="0">
            <a:schemeClr val="dk1"/>
          </a:effectRef>
          <a:fontRef idx="minor">
            <a:schemeClr val="dk1"/>
          </a:fontRef>
        </p:style>
        <p:txBody>
          <a:bodyPr rtlCol="0" anchor="ctr"/>
          <a:lstStyle/>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Core &amp; Provider: </a:t>
            </a:r>
            <a:r>
              <a:rPr lang="en-US" sz="1200" dirty="0" err="1">
                <a:solidFill>
                  <a:schemeClr val="bg1"/>
                </a:solidFill>
                <a:latin typeface="Poppins" panose="00000500000000000000" pitchFamily="2" charset="0"/>
                <a:cs typeface="Poppins" panose="00000500000000000000" pitchFamily="2" charset="0"/>
              </a:rPr>
              <a:t>bundleId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requestType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dispensingPharmacyID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prescriptionFacilityID</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Dates &amp; Financials: </a:t>
            </a:r>
            <a:r>
              <a:rPr lang="en-US" sz="1200" dirty="0" err="1">
                <a:solidFill>
                  <a:schemeClr val="bg1"/>
                </a:solidFill>
                <a:latin typeface="Poppins" panose="00000500000000000000" pitchFamily="2" charset="0"/>
                <a:cs typeface="Poppins" panose="00000500000000000000" pitchFamily="2" charset="0"/>
              </a:rPr>
              <a:t>dateOfMedicationClaim</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claimSubmissionDate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claimedAmount</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Patient &amp; Policy: </a:t>
            </a:r>
            <a:r>
              <a:rPr lang="en-US" sz="1200" dirty="0" err="1">
                <a:solidFill>
                  <a:schemeClr val="bg1"/>
                </a:solidFill>
                <a:latin typeface="Poppins" panose="00000500000000000000" pitchFamily="2" charset="0"/>
                <a:cs typeface="Poppins" panose="00000500000000000000" pitchFamily="2" charset="0"/>
              </a:rPr>
              <a:t>patientID</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dateOfBirth</a:t>
            </a:r>
            <a:r>
              <a:rPr lang="en-US" sz="1200" dirty="0">
                <a:solidFill>
                  <a:schemeClr val="bg1"/>
                </a:solidFill>
                <a:latin typeface="Poppins" panose="00000500000000000000" pitchFamily="2" charset="0"/>
                <a:cs typeface="Poppins" panose="00000500000000000000" pitchFamily="2" charset="0"/>
              </a:rPr>
              <a:t>, gender, </a:t>
            </a:r>
            <a:r>
              <a:rPr lang="en-US" sz="1200" dirty="0" err="1">
                <a:solidFill>
                  <a:schemeClr val="bg1"/>
                </a:solidFill>
                <a:latin typeface="Poppins" panose="00000500000000000000" pitchFamily="2" charset="0"/>
                <a:cs typeface="Poppins" panose="00000500000000000000" pitchFamily="2" charset="0"/>
              </a:rPr>
              <a:t>policyNumber</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policyEffectiveDate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policyExpiryDate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dateOfPrescription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isNewBorn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isMaternity</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Diagnosis: </a:t>
            </a:r>
            <a:r>
              <a:rPr lang="en-US" sz="1200" dirty="0" err="1">
                <a:solidFill>
                  <a:schemeClr val="bg1"/>
                </a:solidFill>
                <a:latin typeface="Poppins" panose="00000500000000000000" pitchFamily="2" charset="0"/>
                <a:cs typeface="Poppins" panose="00000500000000000000" pitchFamily="2" charset="0"/>
              </a:rPr>
              <a:t>primaryDiagnosisCode</a:t>
            </a:r>
            <a:endParaRPr lang="en-US" sz="1200" dirty="0">
              <a:solidFill>
                <a:schemeClr val="bg1"/>
              </a:solidFill>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sz="1200" dirty="0" err="1">
                <a:solidFill>
                  <a:schemeClr val="bg1"/>
                </a:solidFill>
                <a:latin typeface="Poppins" panose="00000500000000000000" pitchFamily="2" charset="0"/>
                <a:cs typeface="Poppins" panose="00000500000000000000" pitchFamily="2" charset="0"/>
              </a:rPr>
              <a:t>Medications:drugCode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drugGTINCodeunitPriceserviceLineNo</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dateOfService</a:t>
            </a:r>
            <a:r>
              <a:rPr lang="en-US" sz="1200" dirty="0">
                <a:solidFill>
                  <a:schemeClr val="bg1"/>
                </a:solidFill>
                <a:latin typeface="Poppins" panose="00000500000000000000" pitchFamily="2" charset="0"/>
                <a:cs typeface="Poppins" panose="00000500000000000000" pitchFamily="2" charset="0"/>
              </a:rPr>
              <a:t>, quantity</a:t>
            </a:r>
          </a:p>
          <a:p>
            <a:pPr marL="171450" indent="-171450">
              <a:buFont typeface="Arial" panose="020B0604020202020204" pitchFamily="34" charset="0"/>
              <a:buChar char="•"/>
            </a:pPr>
            <a:r>
              <a:rPr lang="en-US" sz="1200" dirty="0">
                <a:solidFill>
                  <a:schemeClr val="bg1"/>
                </a:solidFill>
                <a:latin typeface="Poppins" panose="00000500000000000000" pitchFamily="2" charset="0"/>
                <a:cs typeface="Poppins" panose="00000500000000000000" pitchFamily="2" charset="0"/>
              </a:rPr>
              <a:t>Medical Devices (if any): </a:t>
            </a:r>
            <a:r>
              <a:rPr lang="en-US" sz="1200" dirty="0" err="1">
                <a:solidFill>
                  <a:schemeClr val="bg1"/>
                </a:solidFill>
                <a:latin typeface="Poppins" panose="00000500000000000000" pitchFamily="2" charset="0"/>
                <a:cs typeface="Poppins" panose="00000500000000000000" pitchFamily="2" charset="0"/>
              </a:rPr>
              <a:t>deviceDescription</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unitPrice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patientShare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dateOfService</a:t>
            </a:r>
            <a:r>
              <a:rPr lang="en-US" sz="1200" dirty="0">
                <a:solidFill>
                  <a:schemeClr val="bg1"/>
                </a:solidFill>
                <a:latin typeface="Poppins" panose="00000500000000000000" pitchFamily="2" charset="0"/>
                <a:cs typeface="Poppins" panose="00000500000000000000" pitchFamily="2" charset="0"/>
              </a:rPr>
              <a:t>, </a:t>
            </a:r>
            <a:r>
              <a:rPr lang="en-US" sz="1200" dirty="0" err="1">
                <a:solidFill>
                  <a:schemeClr val="bg1"/>
                </a:solidFill>
                <a:latin typeface="Poppins" panose="00000500000000000000" pitchFamily="2" charset="0"/>
                <a:cs typeface="Poppins" panose="00000500000000000000" pitchFamily="2" charset="0"/>
              </a:rPr>
              <a:t>serviceLineNo</a:t>
            </a:r>
            <a:endParaRPr lang="en-US" sz="1200" dirty="0">
              <a:solidFill>
                <a:schemeClr val="bg1"/>
              </a:solidFill>
              <a:latin typeface="Poppins" panose="00000500000000000000" pitchFamily="2" charset="0"/>
              <a:cs typeface="Poppins" panose="00000500000000000000" pitchFamily="2" charset="0"/>
            </a:endParaRPr>
          </a:p>
        </p:txBody>
      </p:sp>
      <p:sp>
        <p:nvSpPr>
          <p:cNvPr id="6" name="TextBox 21">
            <a:extLst>
              <a:ext uri="{FF2B5EF4-FFF2-40B4-BE49-F238E27FC236}">
                <a16:creationId xmlns:a16="http://schemas.microsoft.com/office/drawing/2014/main" id="{A705EFB9-11DF-D210-2E7F-F8621C941A9C}"/>
              </a:ext>
            </a:extLst>
          </p:cNvPr>
          <p:cNvSpPr txBox="1"/>
          <p:nvPr/>
        </p:nvSpPr>
        <p:spPr>
          <a:xfrm>
            <a:off x="89525" y="58003"/>
            <a:ext cx="10217622" cy="492443"/>
          </a:xfrm>
          <a:prstGeom prst="rect">
            <a:avLst/>
          </a:prstGeom>
        </p:spPr>
        <p:txBody>
          <a:bodyPr wrap="square" lIns="0" tIns="0" rIns="0" bIns="0" rtlCol="0" anchor="t">
            <a:spAutoFit/>
          </a:bodyPr>
          <a:lstStyle>
            <a:defPPr>
              <a:defRPr lang="en-US"/>
            </a:defPPr>
            <a:lvl1pPr algn="ctr" defTabSz="609630">
              <a:defRPr sz="2800">
                <a:solidFill>
                  <a:srgbClr val="AF1A8C"/>
                </a:solidFill>
                <a:latin typeface="Poppins"/>
              </a:defRPr>
            </a:lvl1pPr>
          </a:lstStyle>
          <a:p>
            <a:pPr algn="l"/>
            <a:r>
              <a:rPr lang="en-US" sz="3200" b="1">
                <a:solidFill>
                  <a:schemeClr val="bg1"/>
                </a:solidFill>
              </a:rPr>
              <a:t>Minimum Dataset Requirement </a:t>
            </a:r>
            <a:endParaRPr lang="en-US" sz="3200" dirty="0">
              <a:solidFill>
                <a:schemeClr val="bg1"/>
              </a:solidFill>
            </a:endParaRPr>
          </a:p>
        </p:txBody>
      </p:sp>
      <p:sp>
        <p:nvSpPr>
          <p:cNvPr id="8" name="TextBox 7">
            <a:extLst>
              <a:ext uri="{FF2B5EF4-FFF2-40B4-BE49-F238E27FC236}">
                <a16:creationId xmlns:a16="http://schemas.microsoft.com/office/drawing/2014/main" id="{B05B8A8A-0AC2-8EF4-7476-0F526DF038FF}"/>
              </a:ext>
            </a:extLst>
          </p:cNvPr>
          <p:cNvSpPr txBox="1"/>
          <p:nvPr/>
        </p:nvSpPr>
        <p:spPr>
          <a:xfrm>
            <a:off x="363794" y="664838"/>
            <a:ext cx="6174658" cy="369332"/>
          </a:xfrm>
          <a:prstGeom prst="rect">
            <a:avLst/>
          </a:prstGeom>
          <a:noFill/>
        </p:spPr>
        <p:txBody>
          <a:bodyPr wrap="square">
            <a:spAutoFit/>
          </a:bodyPr>
          <a:lstStyle/>
          <a:p>
            <a:r>
              <a:rPr lang="en-US" dirty="0">
                <a:solidFill>
                  <a:schemeClr val="bg2"/>
                </a:solidFill>
              </a:rPr>
              <a:t>E-Prescription – Mandatory</a:t>
            </a:r>
          </a:p>
        </p:txBody>
      </p:sp>
      <p:sp>
        <p:nvSpPr>
          <p:cNvPr id="10" name="TextBox 9">
            <a:extLst>
              <a:ext uri="{FF2B5EF4-FFF2-40B4-BE49-F238E27FC236}">
                <a16:creationId xmlns:a16="http://schemas.microsoft.com/office/drawing/2014/main" id="{B790D730-912E-EAD9-CB8D-78E400BD4D23}"/>
              </a:ext>
            </a:extLst>
          </p:cNvPr>
          <p:cNvSpPr txBox="1"/>
          <p:nvPr/>
        </p:nvSpPr>
        <p:spPr>
          <a:xfrm>
            <a:off x="363794" y="2700442"/>
            <a:ext cx="6174658" cy="369332"/>
          </a:xfrm>
          <a:prstGeom prst="rect">
            <a:avLst/>
          </a:prstGeom>
          <a:noFill/>
        </p:spPr>
        <p:txBody>
          <a:bodyPr wrap="square">
            <a:spAutoFit/>
          </a:bodyPr>
          <a:lstStyle/>
          <a:p>
            <a:r>
              <a:rPr lang="en-US" dirty="0">
                <a:solidFill>
                  <a:schemeClr val="bg2"/>
                </a:solidFill>
              </a:rPr>
              <a:t>Approval – Mandatory</a:t>
            </a:r>
          </a:p>
        </p:txBody>
      </p:sp>
      <p:sp>
        <p:nvSpPr>
          <p:cNvPr id="12" name="TextBox 11">
            <a:extLst>
              <a:ext uri="{FF2B5EF4-FFF2-40B4-BE49-F238E27FC236}">
                <a16:creationId xmlns:a16="http://schemas.microsoft.com/office/drawing/2014/main" id="{5AAB821F-738A-7CCB-FF9D-0ED1D801CE62}"/>
              </a:ext>
            </a:extLst>
          </p:cNvPr>
          <p:cNvSpPr txBox="1"/>
          <p:nvPr/>
        </p:nvSpPr>
        <p:spPr>
          <a:xfrm>
            <a:off x="363794" y="4685905"/>
            <a:ext cx="6174658" cy="369332"/>
          </a:xfrm>
          <a:prstGeom prst="rect">
            <a:avLst/>
          </a:prstGeom>
          <a:noFill/>
        </p:spPr>
        <p:txBody>
          <a:bodyPr wrap="square">
            <a:spAutoFit/>
          </a:bodyPr>
          <a:lstStyle/>
          <a:p>
            <a:r>
              <a:rPr lang="en-US" dirty="0">
                <a:solidFill>
                  <a:schemeClr val="bg2"/>
                </a:solidFill>
              </a:rPr>
              <a:t>Claim – Mandatory</a:t>
            </a:r>
          </a:p>
        </p:txBody>
      </p:sp>
    </p:spTree>
    <p:extLst>
      <p:ext uri="{BB962C8B-B14F-4D97-AF65-F5344CB8AC3E}">
        <p14:creationId xmlns:p14="http://schemas.microsoft.com/office/powerpoint/2010/main" val="9860903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2BB337CD-0E85-2A72-997C-3E60D6A65A0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1791" y="0"/>
            <a:ext cx="1323521" cy="935484"/>
          </a:xfrm>
          <a:prstGeom prst="rect">
            <a:avLst/>
          </a:prstGeom>
        </p:spPr>
      </p:pic>
      <p:pic>
        <p:nvPicPr>
          <p:cNvPr id="7" name="Picture 6">
            <a:extLst>
              <a:ext uri="{FF2B5EF4-FFF2-40B4-BE49-F238E27FC236}">
                <a16:creationId xmlns:a16="http://schemas.microsoft.com/office/drawing/2014/main" id="{5744F18E-2823-F6D1-1FA6-36FDDF184B14}"/>
              </a:ext>
            </a:extLst>
          </p:cNvPr>
          <p:cNvPicPr>
            <a:picLocks noChangeAspect="1"/>
          </p:cNvPicPr>
          <p:nvPr/>
        </p:nvPicPr>
        <p:blipFill>
          <a:blip r:embed="rId4"/>
          <a:stretch>
            <a:fillRect/>
          </a:stretch>
        </p:blipFill>
        <p:spPr>
          <a:xfrm>
            <a:off x="0" y="0"/>
            <a:ext cx="12191999" cy="6858000"/>
          </a:xfrm>
          <a:prstGeom prst="rect">
            <a:avLst/>
          </a:prstGeom>
        </p:spPr>
      </p:pic>
      <p:sp>
        <p:nvSpPr>
          <p:cNvPr id="11" name="TextBox 9">
            <a:extLst>
              <a:ext uri="{FF2B5EF4-FFF2-40B4-BE49-F238E27FC236}">
                <a16:creationId xmlns:a16="http://schemas.microsoft.com/office/drawing/2014/main" id="{326B5EA4-EE6E-6173-0F5C-F511D39591E1}"/>
              </a:ext>
            </a:extLst>
          </p:cNvPr>
          <p:cNvSpPr txBox="1"/>
          <p:nvPr/>
        </p:nvSpPr>
        <p:spPr>
          <a:xfrm>
            <a:off x="685799" y="4414234"/>
            <a:ext cx="5622717" cy="453970"/>
          </a:xfrm>
          <a:prstGeom prst="rect">
            <a:avLst/>
          </a:prstGeom>
        </p:spPr>
        <p:txBody>
          <a:bodyPr wrap="square" lIns="0" tIns="0" rIns="0" bIns="0" rtlCol="0" anchor="t">
            <a:spAutoFit/>
          </a:bodyPr>
          <a:lstStyle/>
          <a:p>
            <a:pPr marL="0" marR="0" lvl="0" indent="0" algn="l" defTabSz="914400" rtl="0" eaLnBrk="1" fontAlgn="auto" latinLnBrk="0" hangingPunct="1">
              <a:lnSpc>
                <a:spcPts val="3999"/>
              </a:lnSpc>
              <a:spcBef>
                <a:spcPts val="0"/>
              </a:spcBef>
              <a:spcAft>
                <a:spcPts val="0"/>
              </a:spcAft>
              <a:buClrTx/>
              <a:buSzTx/>
              <a:buFontTx/>
              <a:buNone/>
              <a:tabLst/>
              <a:defRPr/>
            </a:pPr>
            <a:r>
              <a:rPr kumimoji="0" lang="en-US" u="none" strike="noStrike" kern="1200" cap="none" spc="16" normalizeH="0" baseline="0" noProof="0">
                <a:ln>
                  <a:noFill/>
                </a:ln>
                <a:solidFill>
                  <a:srgbClr val="F8F8F8"/>
                </a:solidFill>
                <a:effectLst/>
                <a:uLnTx/>
                <a:uFillTx/>
                <a:latin typeface="Poppins Medium" pitchFamily="2" charset="77"/>
                <a:ea typeface="Poppins"/>
                <a:cs typeface="Poppins Medium" pitchFamily="2" charset="77"/>
                <a:sym typeface="Poppins"/>
              </a:rPr>
              <a:t>For further information, contact us.</a:t>
            </a:r>
          </a:p>
        </p:txBody>
      </p:sp>
      <p:pic>
        <p:nvPicPr>
          <p:cNvPr id="14" name="Header Logo white" descr="preencoded.png">
            <a:extLst>
              <a:ext uri="{FF2B5EF4-FFF2-40B4-BE49-F238E27FC236}">
                <a16:creationId xmlns:a16="http://schemas.microsoft.com/office/drawing/2014/main" id="{C4A91B69-4975-F672-DBFD-C96CC83FF1F0}"/>
              </a:ext>
            </a:extLst>
          </p:cNvPr>
          <p:cNvPicPr>
            <a:picLocks noChangeAspect="1"/>
          </p:cNvPicPr>
          <p:nvPr/>
        </p:nvPicPr>
        <p:blipFill>
          <a:blip r:embed="rId5">
            <a:extLst>
              <a:ext uri="{96DAC541-7B7A-43D3-8B79-37D633B846F1}">
                <asvg:svgBlip xmlns:asvg="http://schemas.microsoft.com/office/drawing/2016/SVG/main" r:embed="rId6"/>
              </a:ext>
            </a:extLst>
          </a:blip>
          <a:srcRect/>
          <a:stretch/>
        </p:blipFill>
        <p:spPr>
          <a:xfrm>
            <a:off x="503071" y="615438"/>
            <a:ext cx="2208063" cy="606031"/>
          </a:xfrm>
          <a:prstGeom prst="rect">
            <a:avLst/>
          </a:prstGeom>
        </p:spPr>
      </p:pic>
      <p:grpSp>
        <p:nvGrpSpPr>
          <p:cNvPr id="20" name="Group 19">
            <a:extLst>
              <a:ext uri="{FF2B5EF4-FFF2-40B4-BE49-F238E27FC236}">
                <a16:creationId xmlns:a16="http://schemas.microsoft.com/office/drawing/2014/main" id="{3E00853B-9D6A-CE78-61F7-62F1295C8792}"/>
              </a:ext>
            </a:extLst>
          </p:cNvPr>
          <p:cNvGrpSpPr/>
          <p:nvPr/>
        </p:nvGrpSpPr>
        <p:grpSpPr>
          <a:xfrm>
            <a:off x="724439" y="5353028"/>
            <a:ext cx="3252663" cy="360608"/>
            <a:chOff x="724439" y="4663351"/>
            <a:chExt cx="3252663" cy="360608"/>
          </a:xfrm>
        </p:grpSpPr>
        <p:sp>
          <p:nvSpPr>
            <p:cNvPr id="12" name="TextBox 10">
              <a:extLst>
                <a:ext uri="{FF2B5EF4-FFF2-40B4-BE49-F238E27FC236}">
                  <a16:creationId xmlns:a16="http://schemas.microsoft.com/office/drawing/2014/main" id="{341C97B0-56B3-8671-FCFA-D7415483DC56}"/>
                </a:ext>
              </a:extLst>
            </p:cNvPr>
            <p:cNvSpPr txBox="1"/>
            <p:nvPr/>
          </p:nvSpPr>
          <p:spPr>
            <a:xfrm>
              <a:off x="1296143" y="4713798"/>
              <a:ext cx="2680959" cy="259715"/>
            </a:xfrm>
            <a:prstGeom prst="rect">
              <a:avLst/>
            </a:prstGeom>
          </p:spPr>
          <p:txBody>
            <a:bodyPr wrap="square" lIns="0" tIns="0" rIns="0" bIns="0" rtlCol="0" anchor="t">
              <a:spAutoFit/>
            </a:bodyPr>
            <a:lstStyle/>
            <a:p>
              <a:pPr marL="0" marR="0" lvl="0" indent="0" defTabSz="914400" rtl="0" eaLnBrk="1" fontAlgn="auto" latinLnBrk="0" hangingPunct="1">
                <a:lnSpc>
                  <a:spcPts val="1960"/>
                </a:lnSpc>
                <a:spcBef>
                  <a:spcPts val="0"/>
                </a:spcBef>
                <a:spcAft>
                  <a:spcPts val="0"/>
                </a:spcAft>
                <a:buClrTx/>
                <a:buSzTx/>
                <a:buFontTx/>
                <a:buNone/>
                <a:tabLst/>
                <a:defRPr/>
              </a:pPr>
              <a:r>
                <a:rPr kumimoji="0" lang="en-US" sz="1600" b="0" i="0" u="none" strike="noStrike" kern="1200" cap="none" spc="21" normalizeH="0" baseline="0" noProof="0" err="1">
                  <a:ln>
                    <a:noFill/>
                  </a:ln>
                  <a:solidFill>
                    <a:srgbClr val="F8F8F8"/>
                  </a:solidFill>
                  <a:effectLst/>
                  <a:uLnTx/>
                  <a:uFillTx/>
                  <a:latin typeface="Poppins"/>
                  <a:ea typeface="Poppins"/>
                  <a:cs typeface="Poppins"/>
                  <a:sym typeface="Poppins"/>
                </a:rPr>
                <a:t>info@TachyHealth.com</a:t>
              </a:r>
              <a:endParaRPr kumimoji="0" lang="en-US" sz="1600" b="0" i="0" u="none" strike="noStrike" kern="1200" cap="none" spc="21" normalizeH="0" baseline="0" noProof="0">
                <a:ln>
                  <a:noFill/>
                </a:ln>
                <a:solidFill>
                  <a:srgbClr val="F8F8F8"/>
                </a:solidFill>
                <a:effectLst/>
                <a:uLnTx/>
                <a:uFillTx/>
                <a:latin typeface="Poppins"/>
                <a:ea typeface="Poppins"/>
                <a:cs typeface="Poppins"/>
                <a:sym typeface="Poppins"/>
              </a:endParaRPr>
            </a:p>
          </p:txBody>
        </p:sp>
        <p:pic>
          <p:nvPicPr>
            <p:cNvPr id="16" name="Graphic 15">
              <a:extLst>
                <a:ext uri="{FF2B5EF4-FFF2-40B4-BE49-F238E27FC236}">
                  <a16:creationId xmlns:a16="http://schemas.microsoft.com/office/drawing/2014/main" id="{93950566-BC17-30C6-AF1E-4E3182B9217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4439" y="4663351"/>
              <a:ext cx="360608" cy="360608"/>
            </a:xfrm>
            <a:prstGeom prst="rect">
              <a:avLst/>
            </a:prstGeom>
          </p:spPr>
        </p:pic>
      </p:grpSp>
      <p:grpSp>
        <p:nvGrpSpPr>
          <p:cNvPr id="19" name="Group 18">
            <a:extLst>
              <a:ext uri="{FF2B5EF4-FFF2-40B4-BE49-F238E27FC236}">
                <a16:creationId xmlns:a16="http://schemas.microsoft.com/office/drawing/2014/main" id="{3AB46C8C-0E56-0E50-7AA7-7038B369BADE}"/>
              </a:ext>
            </a:extLst>
          </p:cNvPr>
          <p:cNvGrpSpPr/>
          <p:nvPr/>
        </p:nvGrpSpPr>
        <p:grpSpPr>
          <a:xfrm>
            <a:off x="724439" y="5785583"/>
            <a:ext cx="3088310" cy="360608"/>
            <a:chOff x="724439" y="5339185"/>
            <a:chExt cx="3088310" cy="360608"/>
          </a:xfrm>
        </p:grpSpPr>
        <p:sp>
          <p:nvSpPr>
            <p:cNvPr id="13" name="TextBox 11">
              <a:extLst>
                <a:ext uri="{FF2B5EF4-FFF2-40B4-BE49-F238E27FC236}">
                  <a16:creationId xmlns:a16="http://schemas.microsoft.com/office/drawing/2014/main" id="{9B075578-1DE2-D6BE-50E2-ABAF9A628823}"/>
                </a:ext>
              </a:extLst>
            </p:cNvPr>
            <p:cNvSpPr txBox="1"/>
            <p:nvPr/>
          </p:nvSpPr>
          <p:spPr>
            <a:xfrm>
              <a:off x="1288047" y="5411767"/>
              <a:ext cx="2524702" cy="215444"/>
            </a:xfrm>
            <a:prstGeom prst="rect">
              <a:avLst/>
            </a:prstGeom>
          </p:spPr>
          <p:txBody>
            <a:bodyPr wrap="square" lIns="0" tIns="0" rIns="0" bIns="0" rtlCol="0" anchor="t">
              <a:spAutoFit/>
            </a:bodyPr>
            <a:lstStyle/>
            <a:p>
              <a:pPr marL="0" marR="0" lvl="0" indent="0" defTabSz="914400" rtl="0" eaLnBrk="1" fontAlgn="auto" latinLnBrk="0" hangingPunct="1">
                <a:lnSpc>
                  <a:spcPts val="1623"/>
                </a:lnSpc>
                <a:spcBef>
                  <a:spcPct val="0"/>
                </a:spcBef>
                <a:spcAft>
                  <a:spcPts val="0"/>
                </a:spcAft>
                <a:buClrTx/>
                <a:buSzTx/>
                <a:buFontTx/>
                <a:buNone/>
                <a:tabLst/>
                <a:defRPr/>
              </a:pPr>
              <a:r>
                <a:rPr kumimoji="0" lang="en-US" sz="1600" b="0" i="0" u="none" strike="noStrike" kern="1200" cap="none" spc="1" normalizeH="0" baseline="0" noProof="0" err="1">
                  <a:ln>
                    <a:noFill/>
                  </a:ln>
                  <a:solidFill>
                    <a:srgbClr val="F8F8F8"/>
                  </a:solidFill>
                  <a:effectLst/>
                  <a:uLnTx/>
                  <a:uFillTx/>
                  <a:latin typeface="Poppins"/>
                  <a:ea typeface="Poppins"/>
                  <a:cs typeface="Poppins"/>
                  <a:sym typeface="Poppins"/>
                </a:rPr>
                <a:t>www.TachyHealth.com</a:t>
              </a:r>
              <a:endParaRPr kumimoji="0" lang="en-US" sz="1600" b="0" i="0" u="none" strike="noStrike" kern="1200" cap="none" spc="1" normalizeH="0" baseline="0" noProof="0">
                <a:ln>
                  <a:noFill/>
                </a:ln>
                <a:solidFill>
                  <a:srgbClr val="F8F8F8"/>
                </a:solidFill>
                <a:effectLst/>
                <a:uLnTx/>
                <a:uFillTx/>
                <a:latin typeface="Poppins"/>
                <a:ea typeface="Poppins"/>
                <a:cs typeface="Poppins"/>
                <a:sym typeface="Poppins"/>
              </a:endParaRPr>
            </a:p>
          </p:txBody>
        </p:sp>
        <p:pic>
          <p:nvPicPr>
            <p:cNvPr id="18" name="Graphic 17">
              <a:extLst>
                <a:ext uri="{FF2B5EF4-FFF2-40B4-BE49-F238E27FC236}">
                  <a16:creationId xmlns:a16="http://schemas.microsoft.com/office/drawing/2014/main" id="{BCDCA83D-BD03-37A6-E7B0-3F1D7D8E828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24439" y="5339185"/>
              <a:ext cx="360608" cy="360608"/>
            </a:xfrm>
            <a:prstGeom prst="rect">
              <a:avLst/>
            </a:prstGeom>
          </p:spPr>
        </p:pic>
      </p:grpSp>
      <p:cxnSp>
        <p:nvCxnSpPr>
          <p:cNvPr id="21" name="Straight Connector 20">
            <a:extLst>
              <a:ext uri="{FF2B5EF4-FFF2-40B4-BE49-F238E27FC236}">
                <a16:creationId xmlns:a16="http://schemas.microsoft.com/office/drawing/2014/main" id="{9A8C0739-623E-1811-3E6C-FFEECE263DA2}"/>
              </a:ext>
            </a:extLst>
          </p:cNvPr>
          <p:cNvCxnSpPr>
            <a:cxnSpLocks/>
          </p:cNvCxnSpPr>
          <p:nvPr/>
        </p:nvCxnSpPr>
        <p:spPr>
          <a:xfrm>
            <a:off x="685799" y="5027362"/>
            <a:ext cx="2245408" cy="0"/>
          </a:xfrm>
          <a:prstGeom prst="line">
            <a:avLst/>
          </a:prstGeom>
          <a:ln w="57150">
            <a:solidFill>
              <a:schemeClr val="bg1">
                <a:alpha val="10000"/>
              </a:schemeClr>
            </a:solidFill>
          </a:ln>
        </p:spPr>
        <p:style>
          <a:lnRef idx="1">
            <a:schemeClr val="accent1"/>
          </a:lnRef>
          <a:fillRef idx="0">
            <a:schemeClr val="accent1"/>
          </a:fillRef>
          <a:effectRef idx="0">
            <a:schemeClr val="accent1"/>
          </a:effectRef>
          <a:fontRef idx="minor">
            <a:schemeClr val="tx1"/>
          </a:fontRef>
        </p:style>
      </p:cxnSp>
      <p:pic>
        <p:nvPicPr>
          <p:cNvPr id="24" name="Header Logo white" descr="preencoded.png">
            <a:extLst>
              <a:ext uri="{FF2B5EF4-FFF2-40B4-BE49-F238E27FC236}">
                <a16:creationId xmlns:a16="http://schemas.microsoft.com/office/drawing/2014/main" id="{DA14D1EF-9A35-3E40-B8C4-507EDDFAFED0}"/>
              </a:ext>
            </a:extLst>
          </p:cNvPr>
          <p:cNvPicPr>
            <a:picLocks noChangeAspect="1"/>
          </p:cNvPicPr>
          <p:nvPr/>
        </p:nvPicPr>
        <p:blipFill rotWithShape="1">
          <a:blip r:embed="rId11">
            <a:extLst>
              <a:ext uri="{96DAC541-7B7A-43D3-8B79-37D633B846F1}">
                <asvg:svgBlip xmlns:asvg="http://schemas.microsoft.com/office/drawing/2016/SVG/main" r:embed="rId12"/>
              </a:ext>
            </a:extLst>
          </a:blip>
          <a:srcRect r="60349"/>
          <a:stretch/>
        </p:blipFill>
        <p:spPr>
          <a:xfrm>
            <a:off x="7594393" y="918453"/>
            <a:ext cx="8189072" cy="5668376"/>
          </a:xfrm>
          <a:prstGeom prst="rect">
            <a:avLst/>
          </a:prstGeom>
        </p:spPr>
      </p:pic>
      <p:sp>
        <p:nvSpPr>
          <p:cNvPr id="27" name="AI Solutions for Value Based Healthcare">
            <a:extLst>
              <a:ext uri="{FF2B5EF4-FFF2-40B4-BE49-F238E27FC236}">
                <a16:creationId xmlns:a16="http://schemas.microsoft.com/office/drawing/2014/main" id="{478B3BBF-8992-9337-7D98-6177FDBB4E6D}"/>
              </a:ext>
            </a:extLst>
          </p:cNvPr>
          <p:cNvSpPr/>
          <p:nvPr/>
        </p:nvSpPr>
        <p:spPr>
          <a:xfrm>
            <a:off x="503071" y="2186138"/>
            <a:ext cx="10972800" cy="1104900"/>
          </a:xfrm>
          <a:prstGeom prst="rect">
            <a:avLst/>
          </a:prstGeom>
          <a:noFill/>
          <a:ln/>
        </p:spPr>
        <p:txBody>
          <a:bodyPr wrap="square" lIns="0" tIns="0" rIns="0" bIns="0" rtlCol="0" anchor="t"/>
          <a:lstStyle/>
          <a:p>
            <a:pPr>
              <a:lnSpc>
                <a:spcPts val="7500"/>
              </a:lnSpc>
            </a:pPr>
            <a:r>
              <a:rPr lang="en-US" sz="6000">
                <a:solidFill>
                  <a:srgbClr val="FFFFFF"/>
                </a:solidFill>
                <a:latin typeface="Poppins SemiBold" pitchFamily="34" charset="0"/>
                <a:ea typeface="Poppins SemiBold" pitchFamily="34" charset="-122"/>
                <a:cs typeface="Poppins SemiBold" pitchFamily="34" charset="-120"/>
              </a:rPr>
              <a:t>Thank You</a:t>
            </a:r>
          </a:p>
        </p:txBody>
      </p:sp>
    </p:spTree>
    <p:extLst>
      <p:ext uri="{BB962C8B-B14F-4D97-AF65-F5344CB8AC3E}">
        <p14:creationId xmlns:p14="http://schemas.microsoft.com/office/powerpoint/2010/main" val="1863295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F68778E6270D31438843E42568C915E2" ma:contentTypeVersion="10" ma:contentTypeDescription="Create a new document." ma:contentTypeScope="" ma:versionID="ba80a1022d146e19a828d83ffce8eaa0">
  <xsd:schema xmlns:xsd="http://www.w3.org/2001/XMLSchema" xmlns:xs="http://www.w3.org/2001/XMLSchema" xmlns:p="http://schemas.microsoft.com/office/2006/metadata/properties" xmlns:ns2="b76a5e4d-2684-45c0-9cbd-b8bdaf374f7b" xmlns:ns3="345e87c5-5681-46de-ab49-26c7b092026f" targetNamespace="http://schemas.microsoft.com/office/2006/metadata/properties" ma:root="true" ma:fieldsID="762e5c55a5d8c443a63b58ff9501f908" ns2:_="" ns3:_="">
    <xsd:import namespace="b76a5e4d-2684-45c0-9cbd-b8bdaf374f7b"/>
    <xsd:import namespace="345e87c5-5681-46de-ab49-26c7b09202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6a5e4d-2684-45c0-9cbd-b8bdaf374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345e87c5-5681-46de-ab49-26c7b092026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3602E6B2-599D-4973-9EF0-7E52886DE7C6}">
  <ds:schemaRefs>
    <ds:schemaRef ds:uri="345e87c5-5681-46de-ab49-26c7b092026f"/>
    <ds:schemaRef ds:uri="b76a5e4d-2684-45c0-9cbd-b8bdaf374f7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DECB4F9B-3EF0-4869-805F-FDEF8EB8EE57}">
  <ds:schemaRefs>
    <ds:schemaRef ds:uri="345e87c5-5681-46de-ab49-26c7b092026f"/>
    <ds:schemaRef ds:uri="b76a5e4d-2684-45c0-9cbd-b8bdaf374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6159439-06AC-4989-8804-0CA2E078CE37}">
  <ds:schemaRefs>
    <ds:schemaRef ds:uri="http://schemas.microsoft.com/sharepoint/v3/contenttype/forms"/>
  </ds:schemaRefs>
</ds:datastoreItem>
</file>

<file path=docMetadata/LabelInfo.xml><?xml version="1.0" encoding="utf-8"?>
<clbl:labelList xmlns:clbl="http://schemas.microsoft.com/office/2020/mipLabelMetadata">
  <clbl:label id="{fabdb895-9971-4d54-bfb5-5db10e2cc26a}" enabled="0" method="" siteId="{fabdb895-9971-4d54-bfb5-5db10e2cc26a}" removed="1"/>
</clbl:labelList>
</file>

<file path=docProps/app.xml><?xml version="1.0" encoding="utf-8"?>
<Properties xmlns="http://schemas.openxmlformats.org/officeDocument/2006/extended-properties" xmlns:vt="http://schemas.openxmlformats.org/officeDocument/2006/docPropsVTypes">
  <Template>office theme</Template>
  <TotalTime>372</TotalTime>
  <Words>1336</Words>
  <Application>Microsoft Office PowerPoint</Application>
  <PresentationFormat>Widescreen</PresentationFormat>
  <Paragraphs>212</Paragraphs>
  <Slides>13</Slides>
  <Notes>7</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PowerPoint Presentation</vt:lpstr>
      <vt:lpstr>Agenda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Shrouk Eissa</cp:lastModifiedBy>
  <cp:revision>13</cp:revision>
  <dcterms:created xsi:type="dcterms:W3CDTF">2013-07-15T20:26:40Z</dcterms:created>
  <dcterms:modified xsi:type="dcterms:W3CDTF">2025-12-23T13:22:17Z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0x010100F68778E6270D31438843E42568C915E2</vt:lpwstr>
  </property>
</Properties>
</file>